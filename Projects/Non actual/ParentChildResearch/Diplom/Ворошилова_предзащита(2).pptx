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68" r:id="rId3"/>
    <p:sldId id="257" r:id="rId4"/>
    <p:sldId id="258" r:id="rId5"/>
    <p:sldId id="271" r:id="rId6"/>
    <p:sldId id="266" r:id="rId7"/>
    <p:sldId id="265" r:id="rId8"/>
    <p:sldId id="264" r:id="rId9"/>
    <p:sldId id="263" r:id="rId10"/>
    <p:sldId id="272" r:id="rId11"/>
    <p:sldId id="275" r:id="rId12"/>
    <p:sldId id="273" r:id="rId13"/>
    <p:sldId id="274" r:id="rId14"/>
    <p:sldId id="277" r:id="rId15"/>
    <p:sldId id="278" r:id="rId16"/>
    <p:sldId id="276" r:id="rId17"/>
    <p:sldId id="259" r:id="rId18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1522" y="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pie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Родители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D2F1-401B-A8C9-DE39F92107F4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D2F1-401B-A8C9-DE39F92107F4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D2F1-401B-A8C9-DE39F92107F4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D2F1-401B-A8C9-DE39F92107F4}"/>
              </c:ext>
            </c:extLst>
          </c:dPt>
          <c:dLbls>
            <c:spPr>
              <a:solidFill>
                <a:sysClr val="window" lastClr="FFFFFF"/>
              </a:solidFill>
              <a:ln>
                <a:solidFill>
                  <a:sysClr val="windowText" lastClr="000000">
                    <a:lumMod val="25000"/>
                    <a:lumOff val="75000"/>
                  </a:sys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Лист1!$A$2:$A$5</c:f>
              <c:strCache>
                <c:ptCount val="3"/>
                <c:pt idx="0">
                  <c:v>Женщины</c:v>
                </c:pt>
                <c:pt idx="1">
                  <c:v>Мужчины</c:v>
                </c:pt>
                <c:pt idx="2">
                  <c:v>Неопределены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52</c:v>
                </c:pt>
                <c:pt idx="1">
                  <c:v>44</c:v>
                </c:pt>
                <c:pt idx="2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D2F1-401B-A8C9-DE39F92107F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ОПТАНТЫ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hade val="51000"/>
                      <a:satMod val="130000"/>
                    </a:schemeClr>
                  </a:gs>
                  <a:gs pos="80000">
                    <a:schemeClr val="accent1">
                      <a:shade val="93000"/>
                      <a:satMod val="130000"/>
                    </a:schemeClr>
                  </a:gs>
                  <a:gs pos="100000">
                    <a:schemeClr val="accent1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5CA0-452A-A418-A536A0C68117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shade val="51000"/>
                      <a:satMod val="130000"/>
                    </a:schemeClr>
                  </a:gs>
                  <a:gs pos="80000">
                    <a:schemeClr val="accent2">
                      <a:shade val="93000"/>
                      <a:satMod val="130000"/>
                    </a:schemeClr>
                  </a:gs>
                  <a:gs pos="100000">
                    <a:schemeClr val="accent2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5CA0-452A-A418-A536A0C68117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3">
                      <a:shade val="51000"/>
                      <a:satMod val="130000"/>
                    </a:schemeClr>
                  </a:gs>
                  <a:gs pos="80000">
                    <a:schemeClr val="accent3">
                      <a:shade val="93000"/>
                      <a:satMod val="130000"/>
                    </a:schemeClr>
                  </a:gs>
                  <a:gs pos="100000">
                    <a:schemeClr val="accent3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5CA0-452A-A418-A536A0C68117}"/>
              </c:ext>
            </c:extLst>
          </c:dPt>
          <c:dPt>
            <c:idx val="3"/>
            <c:bubble3D val="0"/>
            <c:spPr>
              <a:gradFill rotWithShape="1">
                <a:gsLst>
                  <a:gs pos="0">
                    <a:schemeClr val="accent4">
                      <a:shade val="51000"/>
                      <a:satMod val="130000"/>
                    </a:schemeClr>
                  </a:gs>
                  <a:gs pos="80000">
                    <a:schemeClr val="accent4">
                      <a:shade val="93000"/>
                      <a:satMod val="130000"/>
                    </a:schemeClr>
                  </a:gs>
                  <a:gs pos="100000">
                    <a:schemeClr val="accent4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5CA0-452A-A418-A536A0C68117}"/>
              </c:ext>
            </c:extLst>
          </c:dPt>
          <c:dLbls>
            <c:dLbl>
              <c:idx val="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CA0-452A-A418-A536A0C68117}"/>
                </c:ext>
              </c:extLst>
            </c:dLbl>
            <c:dLbl>
              <c:idx val="1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CA0-452A-A418-A536A0C6811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/>
            </c:extLst>
          </c:dLbls>
          <c:cat>
            <c:strRef>
              <c:f>Лист1!$A$2:$A$5</c:f>
              <c:strCache>
                <c:ptCount val="2"/>
                <c:pt idx="0">
                  <c:v>Юноши</c:v>
                </c:pt>
                <c:pt idx="1">
                  <c:v>Девушки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25</c:v>
                </c:pt>
                <c:pt idx="1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5CA0-452A-A418-A536A0C681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egendEntry>
        <c:idx val="2"/>
        <c:delete val="1"/>
      </c:legendEntry>
      <c:legendEntry>
        <c:idx val="3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5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#2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966ED9E-16FF-4B0A-9F82-6AB42C17F6BA}" type="doc">
      <dgm:prSet loTypeId="urn:microsoft.com/office/officeart/2005/8/layout/default#1" loCatId="list" qsTypeId="urn:microsoft.com/office/officeart/2005/8/quickstyle/simple1" qsCatId="simple" csTypeId="urn:microsoft.com/office/officeart/2005/8/colors/colorful1#1" csCatId="colorful" phldr="1"/>
      <dgm:spPr/>
      <dgm:t>
        <a:bodyPr/>
        <a:lstStyle/>
        <a:p>
          <a:endParaRPr lang="ru-RU"/>
        </a:p>
      </dgm:t>
    </dgm:pt>
    <dgm:pt modelId="{72760B72-4776-4B28-9267-C77F03820D22}">
      <dgm:prSet phldrT="[Текст]" custT="1"/>
      <dgm:spPr/>
      <dgm:t>
        <a:bodyPr/>
        <a:lstStyle/>
        <a:p>
          <a:pPr>
            <a:buSzPts val="1100"/>
            <a:buFont typeface="Times New Roman" panose="02020603050405020304" pitchFamily="18" charset="0"/>
            <a:buAutoNum type="arabicPeriod"/>
          </a:pPr>
          <a:r>
            <a:rPr lang="ru-RU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Опросник “Взаимодействие родитель-ребенок”</a:t>
          </a:r>
          <a:r>
            <a:rPr lang="ru-RU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(ВРР) – автор И.М. Марковская, 1998 г. </a:t>
          </a:r>
        </a:p>
      </dgm:t>
    </dgm:pt>
    <dgm:pt modelId="{77AD37E3-9108-438C-ADF4-0158E94ABAE3}" type="parTrans" cxnId="{8732A96C-ED69-49A4-B46D-2C21B8BB1BC6}">
      <dgm:prSet/>
      <dgm:spPr/>
      <dgm:t>
        <a:bodyPr/>
        <a:lstStyle/>
        <a:p>
          <a:endParaRPr lang="ru-RU"/>
        </a:p>
      </dgm:t>
    </dgm:pt>
    <dgm:pt modelId="{F5AAEB23-3006-4AD8-B47C-360F52567CF8}" type="sibTrans" cxnId="{8732A96C-ED69-49A4-B46D-2C21B8BB1BC6}">
      <dgm:prSet/>
      <dgm:spPr/>
      <dgm:t>
        <a:bodyPr/>
        <a:lstStyle/>
        <a:p>
          <a:endParaRPr lang="ru-RU"/>
        </a:p>
      </dgm:t>
    </dgm:pt>
    <dgm:pt modelId="{A54D6EB8-AE0D-43E4-B0A9-2B2A724FBF70}">
      <dgm:prSet phldrT="[Текст]" custT="1"/>
      <dgm:spPr/>
      <dgm:t>
        <a:bodyPr/>
        <a:lstStyle/>
        <a:p>
          <a:pPr>
            <a:buSzPts val="1100"/>
            <a:buFont typeface="Times New Roman" panose="02020603050405020304" pitchFamily="18" charset="0"/>
            <a:buAutoNum type="arabicPeriod"/>
          </a:pPr>
          <a:r>
            <a:rPr lang="ru-RU" sz="1800" b="1" dirty="0">
              <a:latin typeface="Times New Roman" panose="02020603050405020304" pitchFamily="18" charset="0"/>
              <a:cs typeface="Times New Roman" panose="02020603050405020304" pitchFamily="18" charset="0"/>
            </a:rPr>
            <a:t>Опросник профессиональных предпочтений Дж. </a:t>
          </a:r>
          <a:r>
            <a:rPr lang="ru-RU" sz="1800" b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Голланда</a:t>
          </a:r>
          <a:r>
            <a:rPr lang="ru-RU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 (модель RIASEC; Self-</a:t>
          </a:r>
          <a:r>
            <a:rPr lang="ru-RU" sz="18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Directed</a:t>
          </a:r>
          <a:r>
            <a:rPr lang="ru-RU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 Search, Form R) – автор J. L. Holland, 1994, в модификации/интерпретации Г.В. </a:t>
          </a:r>
          <a:r>
            <a:rPr lang="ru-RU" sz="18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Резапкиной</a:t>
          </a:r>
          <a:r>
            <a:rPr lang="ru-RU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, 2005. </a:t>
          </a:r>
        </a:p>
      </dgm:t>
    </dgm:pt>
    <dgm:pt modelId="{7959D3E4-68E0-41F3-B0EE-ADF5B3B18B08}" type="parTrans" cxnId="{00F47C3C-FD20-47B8-B976-CFCE443D0EDD}">
      <dgm:prSet/>
      <dgm:spPr/>
      <dgm:t>
        <a:bodyPr/>
        <a:lstStyle/>
        <a:p>
          <a:endParaRPr lang="ru-RU"/>
        </a:p>
      </dgm:t>
    </dgm:pt>
    <dgm:pt modelId="{919DE8BD-6055-4B79-BDF9-1F3A0ABFD26D}" type="sibTrans" cxnId="{00F47C3C-FD20-47B8-B976-CFCE443D0EDD}">
      <dgm:prSet/>
      <dgm:spPr/>
      <dgm:t>
        <a:bodyPr/>
        <a:lstStyle/>
        <a:p>
          <a:endParaRPr lang="ru-RU"/>
        </a:p>
      </dgm:t>
    </dgm:pt>
    <dgm:pt modelId="{AEFD4B15-6E36-49D0-BC3E-8F3F59E6D164}">
      <dgm:prSet phldrT="[Текст]" custT="1"/>
      <dgm:spPr/>
      <dgm:t>
        <a:bodyPr/>
        <a:lstStyle/>
        <a:p>
          <a:r>
            <a:rPr lang="ru-RU" sz="2800" b="1" dirty="0">
              <a:latin typeface="Times New Roman" pitchFamily="18" charset="0"/>
              <a:cs typeface="Times New Roman" pitchFamily="18" charset="0"/>
            </a:rPr>
            <a:t>Методики исследования</a:t>
          </a:r>
        </a:p>
      </dgm:t>
    </dgm:pt>
    <dgm:pt modelId="{1DAA4382-A525-4696-A0F3-36A551929800}" type="parTrans" cxnId="{DFCB9A50-D0D2-462C-B574-91EF9A88A02E}">
      <dgm:prSet/>
      <dgm:spPr/>
      <dgm:t>
        <a:bodyPr/>
        <a:lstStyle/>
        <a:p>
          <a:endParaRPr lang="ru-RU"/>
        </a:p>
      </dgm:t>
    </dgm:pt>
    <dgm:pt modelId="{BD185390-9442-468F-9E3D-51DDB51193DB}" type="sibTrans" cxnId="{DFCB9A50-D0D2-462C-B574-91EF9A88A02E}">
      <dgm:prSet/>
      <dgm:spPr/>
      <dgm:t>
        <a:bodyPr/>
        <a:lstStyle/>
        <a:p>
          <a:endParaRPr lang="ru-RU"/>
        </a:p>
      </dgm:t>
    </dgm:pt>
    <dgm:pt modelId="{A61E7CA2-AF0B-4FD0-9405-8D73145CC785}">
      <dgm:prSet phldrT="[Текст]" custT="1"/>
      <dgm:spPr/>
      <dgm:t>
        <a:bodyPr/>
        <a:lstStyle/>
        <a:p>
          <a:pPr>
            <a:buSzPts val="1100"/>
            <a:buFont typeface="Times New Roman" panose="02020603050405020304" pitchFamily="18" charset="0"/>
            <a:buAutoNum type="arabicPeriod"/>
          </a:pPr>
          <a:r>
            <a:rPr lang="ru-RU" sz="2400" b="1" dirty="0">
              <a:latin typeface="Times New Roman" panose="02020603050405020304" pitchFamily="18" charset="0"/>
              <a:cs typeface="Times New Roman" panose="02020603050405020304" pitchFamily="18" charset="0"/>
            </a:rPr>
            <a:t>Методика</a:t>
          </a:r>
        </a:p>
        <a:p>
          <a:pPr>
            <a:buSzPts val="1100"/>
            <a:buFont typeface="Times New Roman" panose="02020603050405020304" pitchFamily="18" charset="0"/>
            <a:buAutoNum type="arabicPeriod"/>
          </a:pPr>
          <a:r>
            <a:rPr lang="ru-RU" sz="2400" b="1" dirty="0">
              <a:latin typeface="Times New Roman" panose="02020603050405020304" pitchFamily="18" charset="0"/>
              <a:cs typeface="Times New Roman" panose="02020603050405020304" pitchFamily="18" charset="0"/>
            </a:rPr>
            <a:t> “Мотивы выбора профессии”</a:t>
          </a:r>
          <a:r>
            <a:rPr lang="ru-RU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 – автор </a:t>
          </a:r>
        </a:p>
        <a:p>
          <a:pPr>
            <a:buSzPts val="1100"/>
            <a:buFont typeface="Times New Roman" panose="02020603050405020304" pitchFamily="18" charset="0"/>
            <a:buAutoNum type="arabicPeriod"/>
          </a:pPr>
          <a:r>
            <a:rPr lang="ru-RU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Р.В. Овчарова, 1996. </a:t>
          </a:r>
        </a:p>
      </dgm:t>
    </dgm:pt>
    <dgm:pt modelId="{8ADBDF0B-23B8-4BCD-9306-7F4137619340}" type="sibTrans" cxnId="{72DF39CD-3E2C-48FC-BEB1-ECC9F700CFFD}">
      <dgm:prSet/>
      <dgm:spPr/>
      <dgm:t>
        <a:bodyPr/>
        <a:lstStyle/>
        <a:p>
          <a:endParaRPr lang="ru-RU"/>
        </a:p>
      </dgm:t>
    </dgm:pt>
    <dgm:pt modelId="{FBE9C4FC-AD06-4888-8CAF-5ACAE586B13F}" type="parTrans" cxnId="{72DF39CD-3E2C-48FC-BEB1-ECC9F700CFFD}">
      <dgm:prSet/>
      <dgm:spPr/>
      <dgm:t>
        <a:bodyPr/>
        <a:lstStyle/>
        <a:p>
          <a:endParaRPr lang="ru-RU"/>
        </a:p>
      </dgm:t>
    </dgm:pt>
    <dgm:pt modelId="{890B76EF-8EAE-4CA2-9075-08C5BAC56505}" type="pres">
      <dgm:prSet presAssocID="{5966ED9E-16FF-4B0A-9F82-6AB42C17F6BA}" presName="diagram" presStyleCnt="0">
        <dgm:presLayoutVars>
          <dgm:dir/>
          <dgm:resizeHandles val="exact"/>
        </dgm:presLayoutVars>
      </dgm:prSet>
      <dgm:spPr/>
    </dgm:pt>
    <dgm:pt modelId="{C91C1552-BFC1-4E4A-B7AF-D1F56AFD5C97}" type="pres">
      <dgm:prSet presAssocID="{AEFD4B15-6E36-49D0-BC3E-8F3F59E6D164}" presName="node" presStyleLbl="node1" presStyleIdx="0" presStyleCnt="4" custLinFactNeighborX="3157" custLinFactNeighborY="13135">
        <dgm:presLayoutVars>
          <dgm:bulletEnabled val="1"/>
        </dgm:presLayoutVars>
      </dgm:prSet>
      <dgm:spPr/>
    </dgm:pt>
    <dgm:pt modelId="{C612D571-9982-4C91-AC83-DD6AC645CB6B}" type="pres">
      <dgm:prSet presAssocID="{BD185390-9442-468F-9E3D-51DDB51193DB}" presName="sibTrans" presStyleCnt="0"/>
      <dgm:spPr/>
    </dgm:pt>
    <dgm:pt modelId="{3C2136E5-BF71-469E-840C-24D9A7B11ED3}" type="pres">
      <dgm:prSet presAssocID="{72760B72-4776-4B28-9267-C77F03820D22}" presName="node" presStyleLbl="node1" presStyleIdx="1" presStyleCnt="4" custLinFactNeighborX="-26" custLinFactNeighborY="11263">
        <dgm:presLayoutVars>
          <dgm:bulletEnabled val="1"/>
        </dgm:presLayoutVars>
      </dgm:prSet>
      <dgm:spPr/>
    </dgm:pt>
    <dgm:pt modelId="{63ED4E7D-B58C-4015-AD00-1D5B3F874675}" type="pres">
      <dgm:prSet presAssocID="{F5AAEB23-3006-4AD8-B47C-360F52567CF8}" presName="sibTrans" presStyleCnt="0"/>
      <dgm:spPr/>
    </dgm:pt>
    <dgm:pt modelId="{0A9DC5D8-1BA5-43F4-B6E9-2334BFBBA096}" type="pres">
      <dgm:prSet presAssocID="{A54D6EB8-AE0D-43E4-B0A9-2B2A724FBF70}" presName="node" presStyleLbl="node1" presStyleIdx="2" presStyleCnt="4" custLinFactNeighborX="3001" custLinFactNeighborY="879">
        <dgm:presLayoutVars>
          <dgm:bulletEnabled val="1"/>
        </dgm:presLayoutVars>
      </dgm:prSet>
      <dgm:spPr/>
    </dgm:pt>
    <dgm:pt modelId="{71DD2A27-8A7F-47A5-B2A0-FC8700BAC41D}" type="pres">
      <dgm:prSet presAssocID="{919DE8BD-6055-4B79-BDF9-1F3A0ABFD26D}" presName="sibTrans" presStyleCnt="0"/>
      <dgm:spPr/>
    </dgm:pt>
    <dgm:pt modelId="{F2030E3E-7CA5-47EB-9595-D65DBD506336}" type="pres">
      <dgm:prSet presAssocID="{A61E7CA2-AF0B-4FD0-9405-8D73145CC785}" presName="node" presStyleLbl="node1" presStyleIdx="3" presStyleCnt="4">
        <dgm:presLayoutVars>
          <dgm:bulletEnabled val="1"/>
        </dgm:presLayoutVars>
      </dgm:prSet>
      <dgm:spPr/>
    </dgm:pt>
  </dgm:ptLst>
  <dgm:cxnLst>
    <dgm:cxn modelId="{A2C8B105-DA3A-43B7-B99F-501B8BFCA5E1}" type="presOf" srcId="{A54D6EB8-AE0D-43E4-B0A9-2B2A724FBF70}" destId="{0A9DC5D8-1BA5-43F4-B6E9-2334BFBBA096}" srcOrd="0" destOrd="0" presId="urn:microsoft.com/office/officeart/2005/8/layout/default#1"/>
    <dgm:cxn modelId="{A98A6B28-BC0E-4306-BD93-CAE0D6842A10}" type="presOf" srcId="{AEFD4B15-6E36-49D0-BC3E-8F3F59E6D164}" destId="{C91C1552-BFC1-4E4A-B7AF-D1F56AFD5C97}" srcOrd="0" destOrd="0" presId="urn:microsoft.com/office/officeart/2005/8/layout/default#1"/>
    <dgm:cxn modelId="{00F47C3C-FD20-47B8-B976-CFCE443D0EDD}" srcId="{5966ED9E-16FF-4B0A-9F82-6AB42C17F6BA}" destId="{A54D6EB8-AE0D-43E4-B0A9-2B2A724FBF70}" srcOrd="2" destOrd="0" parTransId="{7959D3E4-68E0-41F3-B0EE-ADF5B3B18B08}" sibTransId="{919DE8BD-6055-4B79-BDF9-1F3A0ABFD26D}"/>
    <dgm:cxn modelId="{8732A96C-ED69-49A4-B46D-2C21B8BB1BC6}" srcId="{5966ED9E-16FF-4B0A-9F82-6AB42C17F6BA}" destId="{72760B72-4776-4B28-9267-C77F03820D22}" srcOrd="1" destOrd="0" parTransId="{77AD37E3-9108-438C-ADF4-0158E94ABAE3}" sibTransId="{F5AAEB23-3006-4AD8-B47C-360F52567CF8}"/>
    <dgm:cxn modelId="{DFCB9A50-D0D2-462C-B574-91EF9A88A02E}" srcId="{5966ED9E-16FF-4B0A-9F82-6AB42C17F6BA}" destId="{AEFD4B15-6E36-49D0-BC3E-8F3F59E6D164}" srcOrd="0" destOrd="0" parTransId="{1DAA4382-A525-4696-A0F3-36A551929800}" sibTransId="{BD185390-9442-468F-9E3D-51DDB51193DB}"/>
    <dgm:cxn modelId="{FDB333C0-9C12-472A-B3EC-FE491C49A957}" type="presOf" srcId="{A61E7CA2-AF0B-4FD0-9405-8D73145CC785}" destId="{F2030E3E-7CA5-47EB-9595-D65DBD506336}" srcOrd="0" destOrd="0" presId="urn:microsoft.com/office/officeart/2005/8/layout/default#1"/>
    <dgm:cxn modelId="{72DF39CD-3E2C-48FC-BEB1-ECC9F700CFFD}" srcId="{5966ED9E-16FF-4B0A-9F82-6AB42C17F6BA}" destId="{A61E7CA2-AF0B-4FD0-9405-8D73145CC785}" srcOrd="3" destOrd="0" parTransId="{FBE9C4FC-AD06-4888-8CAF-5ACAE586B13F}" sibTransId="{8ADBDF0B-23B8-4BCD-9306-7F4137619340}"/>
    <dgm:cxn modelId="{D83917D6-6AC7-4B62-9349-AD2C1AEBB281}" type="presOf" srcId="{72760B72-4776-4B28-9267-C77F03820D22}" destId="{3C2136E5-BF71-469E-840C-24D9A7B11ED3}" srcOrd="0" destOrd="0" presId="urn:microsoft.com/office/officeart/2005/8/layout/default#1"/>
    <dgm:cxn modelId="{3B5230D7-53EB-4C40-9119-9346C6BC1B8E}" type="presOf" srcId="{5966ED9E-16FF-4B0A-9F82-6AB42C17F6BA}" destId="{890B76EF-8EAE-4CA2-9075-08C5BAC56505}" srcOrd="0" destOrd="0" presId="urn:microsoft.com/office/officeart/2005/8/layout/default#1"/>
    <dgm:cxn modelId="{99E411C7-7578-4AA1-AF6D-B4BC2D9146A8}" type="presParOf" srcId="{890B76EF-8EAE-4CA2-9075-08C5BAC56505}" destId="{C91C1552-BFC1-4E4A-B7AF-D1F56AFD5C97}" srcOrd="0" destOrd="0" presId="urn:microsoft.com/office/officeart/2005/8/layout/default#1"/>
    <dgm:cxn modelId="{621AE8BE-6B6F-4BFC-9F9F-F98B1D58CAFB}" type="presParOf" srcId="{890B76EF-8EAE-4CA2-9075-08C5BAC56505}" destId="{C612D571-9982-4C91-AC83-DD6AC645CB6B}" srcOrd="1" destOrd="0" presId="urn:microsoft.com/office/officeart/2005/8/layout/default#1"/>
    <dgm:cxn modelId="{6E4D4DF8-A2C9-4BEC-A3B3-72247060B0BF}" type="presParOf" srcId="{890B76EF-8EAE-4CA2-9075-08C5BAC56505}" destId="{3C2136E5-BF71-469E-840C-24D9A7B11ED3}" srcOrd="2" destOrd="0" presId="urn:microsoft.com/office/officeart/2005/8/layout/default#1"/>
    <dgm:cxn modelId="{8F7219EF-9DE2-40ED-B91A-6939FF3894F5}" type="presParOf" srcId="{890B76EF-8EAE-4CA2-9075-08C5BAC56505}" destId="{63ED4E7D-B58C-4015-AD00-1D5B3F874675}" srcOrd="3" destOrd="0" presId="urn:microsoft.com/office/officeart/2005/8/layout/default#1"/>
    <dgm:cxn modelId="{5412D099-8478-4E5E-BE77-1D92B845AA2A}" type="presParOf" srcId="{890B76EF-8EAE-4CA2-9075-08C5BAC56505}" destId="{0A9DC5D8-1BA5-43F4-B6E9-2334BFBBA096}" srcOrd="4" destOrd="0" presId="urn:microsoft.com/office/officeart/2005/8/layout/default#1"/>
    <dgm:cxn modelId="{9ADECCB7-1317-4AA3-807E-F1EC96F6BEEA}" type="presParOf" srcId="{890B76EF-8EAE-4CA2-9075-08C5BAC56505}" destId="{71DD2A27-8A7F-47A5-B2A0-FC8700BAC41D}" srcOrd="5" destOrd="0" presId="urn:microsoft.com/office/officeart/2005/8/layout/default#1"/>
    <dgm:cxn modelId="{DA3B0E8E-B6FC-4925-AF74-CBAAD147B1E8}" type="presParOf" srcId="{890B76EF-8EAE-4CA2-9075-08C5BAC56505}" destId="{F2030E3E-7CA5-47EB-9595-D65DBD506336}" srcOrd="6" destOrd="0" presId="urn:microsoft.com/office/officeart/2005/8/layout/default#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C0BCC3F-4147-4C70-A8A0-7416A6575FFC}" type="doc">
      <dgm:prSet loTypeId="urn:microsoft.com/office/officeart/2005/8/layout/hList1" loCatId="list" qsTypeId="urn:microsoft.com/office/officeart/2005/8/quickstyle/simple1" qsCatId="simple" csTypeId="urn:microsoft.com/office/officeart/2005/8/colors/colorful1#2" csCatId="colorful" phldr="1"/>
      <dgm:spPr/>
      <dgm:t>
        <a:bodyPr/>
        <a:lstStyle/>
        <a:p>
          <a:endParaRPr lang="ru-RU"/>
        </a:p>
      </dgm:t>
    </dgm:pt>
    <dgm:pt modelId="{62A9A3C3-8906-408B-BEA5-9EBCEB954D55}">
      <dgm:prSet phldrT="[Текст]"/>
      <dgm:spPr/>
      <dgm:t>
        <a:bodyPr/>
        <a:lstStyle/>
        <a:p>
          <a:r>
            <a:rPr lang="ru-RU" dirty="0"/>
            <a:t>Группа 1</a:t>
          </a:r>
        </a:p>
      </dgm:t>
    </dgm:pt>
    <dgm:pt modelId="{C33EEBA9-ECE0-4698-BDDD-6FCA5258F2D1}" type="parTrans" cxnId="{E8C05620-25D1-4A21-94AC-4DF0262089D6}">
      <dgm:prSet/>
      <dgm:spPr/>
      <dgm:t>
        <a:bodyPr/>
        <a:lstStyle/>
        <a:p>
          <a:endParaRPr lang="ru-RU"/>
        </a:p>
      </dgm:t>
    </dgm:pt>
    <dgm:pt modelId="{80DC49A8-723B-4C45-A368-FF7D1EE004DD}" type="sibTrans" cxnId="{E8C05620-25D1-4A21-94AC-4DF0262089D6}">
      <dgm:prSet/>
      <dgm:spPr/>
      <dgm:t>
        <a:bodyPr/>
        <a:lstStyle/>
        <a:p>
          <a:endParaRPr lang="ru-RU"/>
        </a:p>
      </dgm:t>
    </dgm:pt>
    <dgm:pt modelId="{B542DB51-D18D-414D-B279-6F82ADA2A281}">
      <dgm:prSet phldrT="[Текст]"/>
      <dgm:spPr/>
      <dgm:t>
        <a:bodyPr/>
        <a:lstStyle/>
        <a:p>
          <a:r>
            <a:rPr lang="ru-RU" dirty="0">
              <a:latin typeface="Times New Roman" pitchFamily="18" charset="0"/>
              <a:cs typeface="Times New Roman" pitchFamily="18" charset="0"/>
            </a:rPr>
            <a:t>Родители</a:t>
          </a:r>
        </a:p>
      </dgm:t>
    </dgm:pt>
    <dgm:pt modelId="{19E27BD1-1FE0-4B24-8D84-221AF31ABADC}" type="parTrans" cxnId="{841FE5C0-FC48-4C82-B5E6-36E4A5AF6C72}">
      <dgm:prSet/>
      <dgm:spPr/>
      <dgm:t>
        <a:bodyPr/>
        <a:lstStyle/>
        <a:p>
          <a:endParaRPr lang="ru-RU"/>
        </a:p>
      </dgm:t>
    </dgm:pt>
    <dgm:pt modelId="{50D0CE04-C782-4072-A0FF-57B64E54F2D6}" type="sibTrans" cxnId="{841FE5C0-FC48-4C82-B5E6-36E4A5AF6C72}">
      <dgm:prSet/>
      <dgm:spPr/>
      <dgm:t>
        <a:bodyPr/>
        <a:lstStyle/>
        <a:p>
          <a:endParaRPr lang="ru-RU"/>
        </a:p>
      </dgm:t>
    </dgm:pt>
    <dgm:pt modelId="{C86933EB-7B21-49ED-BA04-19245AFC680E}">
      <dgm:prSet phldrT="[Текст]"/>
      <dgm:spPr/>
      <dgm:t>
        <a:bodyPr/>
        <a:lstStyle/>
        <a:p>
          <a:r>
            <a:rPr lang="ru-RU" dirty="0"/>
            <a:t>Группа 2</a:t>
          </a:r>
        </a:p>
      </dgm:t>
    </dgm:pt>
    <dgm:pt modelId="{8AE989B6-87DF-4FF7-86A9-B29A84C09547}" type="parTrans" cxnId="{4D480138-854C-4501-BC19-2BD7363BF064}">
      <dgm:prSet/>
      <dgm:spPr/>
      <dgm:t>
        <a:bodyPr/>
        <a:lstStyle/>
        <a:p>
          <a:endParaRPr lang="ru-RU"/>
        </a:p>
      </dgm:t>
    </dgm:pt>
    <dgm:pt modelId="{91C36239-BBE3-4B5E-A0C7-CFC674B6B474}" type="sibTrans" cxnId="{4D480138-854C-4501-BC19-2BD7363BF064}">
      <dgm:prSet/>
      <dgm:spPr/>
      <dgm:t>
        <a:bodyPr/>
        <a:lstStyle/>
        <a:p>
          <a:endParaRPr lang="ru-RU"/>
        </a:p>
      </dgm:t>
    </dgm:pt>
    <dgm:pt modelId="{092537AE-CC08-46DF-B2F0-1DAF46AB10C6}">
      <dgm:prSet phldrT="[Текст]"/>
      <dgm:spPr/>
      <dgm:t>
        <a:bodyPr/>
        <a:lstStyle/>
        <a:p>
          <a:r>
            <a:rPr lang="ru-RU" dirty="0">
              <a:latin typeface="Times New Roman" pitchFamily="18" charset="0"/>
              <a:cs typeface="Times New Roman" pitchFamily="18" charset="0"/>
            </a:rPr>
            <a:t>Подростки</a:t>
          </a:r>
        </a:p>
      </dgm:t>
    </dgm:pt>
    <dgm:pt modelId="{B231AB34-D1D1-48C2-B745-76CA2C1898AB}" type="parTrans" cxnId="{72538DA8-AA5C-4307-9EAE-9211A78C2D4E}">
      <dgm:prSet/>
      <dgm:spPr/>
      <dgm:t>
        <a:bodyPr/>
        <a:lstStyle/>
        <a:p>
          <a:endParaRPr lang="ru-RU"/>
        </a:p>
      </dgm:t>
    </dgm:pt>
    <dgm:pt modelId="{3650E49D-9FD1-4499-B46A-FBEB37FF6C2B}" type="sibTrans" cxnId="{72538DA8-AA5C-4307-9EAE-9211A78C2D4E}">
      <dgm:prSet/>
      <dgm:spPr/>
      <dgm:t>
        <a:bodyPr/>
        <a:lstStyle/>
        <a:p>
          <a:endParaRPr lang="ru-RU"/>
        </a:p>
      </dgm:t>
    </dgm:pt>
    <dgm:pt modelId="{E34CC5C2-4587-4AA4-86D5-760240C79D6E}" type="pres">
      <dgm:prSet presAssocID="{EC0BCC3F-4147-4C70-A8A0-7416A6575FFC}" presName="Name0" presStyleCnt="0">
        <dgm:presLayoutVars>
          <dgm:dir/>
          <dgm:animLvl val="lvl"/>
          <dgm:resizeHandles val="exact"/>
        </dgm:presLayoutVars>
      </dgm:prSet>
      <dgm:spPr/>
    </dgm:pt>
    <dgm:pt modelId="{1877350D-A185-4C20-B395-3B85EC7315D2}" type="pres">
      <dgm:prSet presAssocID="{62A9A3C3-8906-408B-BEA5-9EBCEB954D55}" presName="composite" presStyleCnt="0"/>
      <dgm:spPr/>
    </dgm:pt>
    <dgm:pt modelId="{37D0A97C-7444-4A14-B50B-E6B50A7585C6}" type="pres">
      <dgm:prSet presAssocID="{62A9A3C3-8906-408B-BEA5-9EBCEB954D55}" presName="parTx" presStyleLbl="alignNode1" presStyleIdx="0" presStyleCnt="2" custLinFactNeighborX="-6582" custLinFactNeighborY="-3764">
        <dgm:presLayoutVars>
          <dgm:chMax val="0"/>
          <dgm:chPref val="0"/>
          <dgm:bulletEnabled val="1"/>
        </dgm:presLayoutVars>
      </dgm:prSet>
      <dgm:spPr/>
    </dgm:pt>
    <dgm:pt modelId="{2580B2AD-FDCC-4AF9-89B9-9EF385933288}" type="pres">
      <dgm:prSet presAssocID="{62A9A3C3-8906-408B-BEA5-9EBCEB954D55}" presName="desTx" presStyleLbl="alignAccFollowNode1" presStyleIdx="0" presStyleCnt="2">
        <dgm:presLayoutVars>
          <dgm:bulletEnabled val="1"/>
        </dgm:presLayoutVars>
      </dgm:prSet>
      <dgm:spPr/>
    </dgm:pt>
    <dgm:pt modelId="{D2005761-EE5A-4F1A-81CE-A13D266AC055}" type="pres">
      <dgm:prSet presAssocID="{80DC49A8-723B-4C45-A368-FF7D1EE004DD}" presName="space" presStyleCnt="0"/>
      <dgm:spPr/>
    </dgm:pt>
    <dgm:pt modelId="{222B68B9-504D-4413-AF1F-0FB19F6372A3}" type="pres">
      <dgm:prSet presAssocID="{C86933EB-7B21-49ED-BA04-19245AFC680E}" presName="composite" presStyleCnt="0"/>
      <dgm:spPr/>
    </dgm:pt>
    <dgm:pt modelId="{92D59D76-5337-4F5E-8A42-2D4E6ECFFD33}" type="pres">
      <dgm:prSet presAssocID="{C86933EB-7B21-49ED-BA04-19245AFC680E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078EF39B-B168-41C7-94BC-E4C951294322}" type="pres">
      <dgm:prSet presAssocID="{C86933EB-7B21-49ED-BA04-19245AFC680E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E8C05620-25D1-4A21-94AC-4DF0262089D6}" srcId="{EC0BCC3F-4147-4C70-A8A0-7416A6575FFC}" destId="{62A9A3C3-8906-408B-BEA5-9EBCEB954D55}" srcOrd="0" destOrd="0" parTransId="{C33EEBA9-ECE0-4698-BDDD-6FCA5258F2D1}" sibTransId="{80DC49A8-723B-4C45-A368-FF7D1EE004DD}"/>
    <dgm:cxn modelId="{4D480138-854C-4501-BC19-2BD7363BF064}" srcId="{EC0BCC3F-4147-4C70-A8A0-7416A6575FFC}" destId="{C86933EB-7B21-49ED-BA04-19245AFC680E}" srcOrd="1" destOrd="0" parTransId="{8AE989B6-87DF-4FF7-86A9-B29A84C09547}" sibTransId="{91C36239-BBE3-4B5E-A0C7-CFC674B6B474}"/>
    <dgm:cxn modelId="{7FFE2D49-E6DA-43EE-AC59-DD6BAA9C70F6}" type="presOf" srcId="{62A9A3C3-8906-408B-BEA5-9EBCEB954D55}" destId="{37D0A97C-7444-4A14-B50B-E6B50A7585C6}" srcOrd="0" destOrd="0" presId="urn:microsoft.com/office/officeart/2005/8/layout/hList1"/>
    <dgm:cxn modelId="{4FF899A7-AFE4-4713-8DBD-734CFB10B9CA}" type="presOf" srcId="{C86933EB-7B21-49ED-BA04-19245AFC680E}" destId="{92D59D76-5337-4F5E-8A42-2D4E6ECFFD33}" srcOrd="0" destOrd="0" presId="urn:microsoft.com/office/officeart/2005/8/layout/hList1"/>
    <dgm:cxn modelId="{72538DA8-AA5C-4307-9EAE-9211A78C2D4E}" srcId="{C86933EB-7B21-49ED-BA04-19245AFC680E}" destId="{092537AE-CC08-46DF-B2F0-1DAF46AB10C6}" srcOrd="0" destOrd="0" parTransId="{B231AB34-D1D1-48C2-B745-76CA2C1898AB}" sibTransId="{3650E49D-9FD1-4499-B46A-FBEB37FF6C2B}"/>
    <dgm:cxn modelId="{841FE5C0-FC48-4C82-B5E6-36E4A5AF6C72}" srcId="{62A9A3C3-8906-408B-BEA5-9EBCEB954D55}" destId="{B542DB51-D18D-414D-B279-6F82ADA2A281}" srcOrd="0" destOrd="0" parTransId="{19E27BD1-1FE0-4B24-8D84-221AF31ABADC}" sibTransId="{50D0CE04-C782-4072-A0FF-57B64E54F2D6}"/>
    <dgm:cxn modelId="{3E6B32C9-1ADD-4D32-918D-B12ADB5680F2}" type="presOf" srcId="{092537AE-CC08-46DF-B2F0-1DAF46AB10C6}" destId="{078EF39B-B168-41C7-94BC-E4C951294322}" srcOrd="0" destOrd="0" presId="urn:microsoft.com/office/officeart/2005/8/layout/hList1"/>
    <dgm:cxn modelId="{50F41CD1-030D-476D-913A-952EA8DFB29B}" type="presOf" srcId="{B542DB51-D18D-414D-B279-6F82ADA2A281}" destId="{2580B2AD-FDCC-4AF9-89B9-9EF385933288}" srcOrd="0" destOrd="0" presId="urn:microsoft.com/office/officeart/2005/8/layout/hList1"/>
    <dgm:cxn modelId="{64C481DB-6B2C-4267-9DF4-98C477CAF0CA}" type="presOf" srcId="{EC0BCC3F-4147-4C70-A8A0-7416A6575FFC}" destId="{E34CC5C2-4587-4AA4-86D5-760240C79D6E}" srcOrd="0" destOrd="0" presId="urn:microsoft.com/office/officeart/2005/8/layout/hList1"/>
    <dgm:cxn modelId="{8A535102-211B-4FA3-A15C-85113F56C373}" type="presParOf" srcId="{E34CC5C2-4587-4AA4-86D5-760240C79D6E}" destId="{1877350D-A185-4C20-B395-3B85EC7315D2}" srcOrd="0" destOrd="0" presId="urn:microsoft.com/office/officeart/2005/8/layout/hList1"/>
    <dgm:cxn modelId="{B6FCC4E2-05AD-4F68-A8CD-DED7FC52BB7E}" type="presParOf" srcId="{1877350D-A185-4C20-B395-3B85EC7315D2}" destId="{37D0A97C-7444-4A14-B50B-E6B50A7585C6}" srcOrd="0" destOrd="0" presId="urn:microsoft.com/office/officeart/2005/8/layout/hList1"/>
    <dgm:cxn modelId="{28F17742-1B42-4C74-A39E-0BD4644E38D0}" type="presParOf" srcId="{1877350D-A185-4C20-B395-3B85EC7315D2}" destId="{2580B2AD-FDCC-4AF9-89B9-9EF385933288}" srcOrd="1" destOrd="0" presId="urn:microsoft.com/office/officeart/2005/8/layout/hList1"/>
    <dgm:cxn modelId="{C6E79B2F-1BED-4B21-8F7D-6A63D5435598}" type="presParOf" srcId="{E34CC5C2-4587-4AA4-86D5-760240C79D6E}" destId="{D2005761-EE5A-4F1A-81CE-A13D266AC055}" srcOrd="1" destOrd="0" presId="urn:microsoft.com/office/officeart/2005/8/layout/hList1"/>
    <dgm:cxn modelId="{A5C8DEBF-BEED-4118-B38F-6B04B0590DFF}" type="presParOf" srcId="{E34CC5C2-4587-4AA4-86D5-760240C79D6E}" destId="{222B68B9-504D-4413-AF1F-0FB19F6372A3}" srcOrd="2" destOrd="0" presId="urn:microsoft.com/office/officeart/2005/8/layout/hList1"/>
    <dgm:cxn modelId="{2D867324-98F4-41FD-BFCF-63BF9C787B92}" type="presParOf" srcId="{222B68B9-504D-4413-AF1F-0FB19F6372A3}" destId="{92D59D76-5337-4F5E-8A42-2D4E6ECFFD33}" srcOrd="0" destOrd="0" presId="urn:microsoft.com/office/officeart/2005/8/layout/hList1"/>
    <dgm:cxn modelId="{F8BE36CF-EB24-49DA-BCC7-8B55469C874A}" type="presParOf" srcId="{222B68B9-504D-4413-AF1F-0FB19F6372A3}" destId="{078EF39B-B168-41C7-94BC-E4C951294322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1C1552-BFC1-4E4A-B7AF-D1F56AFD5C97}">
      <dsp:nvSpPr>
        <dsp:cNvPr id="0" name=""/>
        <dsp:cNvSpPr/>
      </dsp:nvSpPr>
      <dsp:spPr>
        <a:xfrm>
          <a:off x="117832" y="455222"/>
          <a:ext cx="3702364" cy="222141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b="1" kern="1200" dirty="0">
              <a:latin typeface="Times New Roman" pitchFamily="18" charset="0"/>
              <a:cs typeface="Times New Roman" pitchFamily="18" charset="0"/>
            </a:rPr>
            <a:t>Методики исследования</a:t>
          </a:r>
        </a:p>
      </dsp:txBody>
      <dsp:txXfrm>
        <a:off x="117832" y="455222"/>
        <a:ext cx="3702364" cy="2221418"/>
      </dsp:txXfrm>
    </dsp:sp>
    <dsp:sp modelId="{3C2136E5-BF71-469E-840C-24D9A7B11ED3}">
      <dsp:nvSpPr>
        <dsp:cNvPr id="0" name=""/>
        <dsp:cNvSpPr/>
      </dsp:nvSpPr>
      <dsp:spPr>
        <a:xfrm>
          <a:off x="4072587" y="413637"/>
          <a:ext cx="3702364" cy="2221418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100"/>
            <a:buFont typeface="Times New Roman" panose="02020603050405020304" pitchFamily="18" charset="0"/>
            <a:buNone/>
          </a:pPr>
          <a:r>
            <a:rPr lang="ru-RU" sz="2400" b="1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Опросник “Взаимодействие родитель-ребенок”</a:t>
          </a:r>
          <a:r>
            <a:rPr lang="ru-RU" sz="24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(ВРР) – автор И.М. Марковская, 1998 г. </a:t>
          </a:r>
        </a:p>
      </dsp:txBody>
      <dsp:txXfrm>
        <a:off x="4072587" y="413637"/>
        <a:ext cx="3702364" cy="2221418"/>
      </dsp:txXfrm>
    </dsp:sp>
    <dsp:sp modelId="{0A9DC5D8-1BA5-43F4-B6E9-2334BFBBA096}">
      <dsp:nvSpPr>
        <dsp:cNvPr id="0" name=""/>
        <dsp:cNvSpPr/>
      </dsp:nvSpPr>
      <dsp:spPr>
        <a:xfrm>
          <a:off x="112057" y="2774620"/>
          <a:ext cx="3702364" cy="2221418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100"/>
            <a:buFont typeface="Times New Roman" panose="02020603050405020304" pitchFamily="18" charset="0"/>
            <a:buNone/>
          </a:pPr>
          <a:r>
            <a:rPr lang="ru-RU" sz="18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Опросник профессиональных предпочтений Дж. </a:t>
          </a:r>
          <a:r>
            <a:rPr lang="ru-RU" sz="1800" b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Голланда</a:t>
          </a:r>
          <a:r>
            <a:rPr lang="ru-RU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(модель RIASEC; Self-</a:t>
          </a:r>
          <a:r>
            <a:rPr lang="ru-RU" sz="18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Directed</a:t>
          </a:r>
          <a:r>
            <a:rPr lang="ru-RU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Search, Form R) – автор J. L. Holland, 1994, в модификации/интерпретации Г.В. </a:t>
          </a:r>
          <a:r>
            <a:rPr lang="ru-RU" sz="18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Резапкиной</a:t>
          </a:r>
          <a:r>
            <a:rPr lang="ru-RU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, 2005. </a:t>
          </a:r>
        </a:p>
      </dsp:txBody>
      <dsp:txXfrm>
        <a:off x="112057" y="2774620"/>
        <a:ext cx="3702364" cy="2221418"/>
      </dsp:txXfrm>
    </dsp:sp>
    <dsp:sp modelId="{F2030E3E-7CA5-47EB-9595-D65DBD506336}">
      <dsp:nvSpPr>
        <dsp:cNvPr id="0" name=""/>
        <dsp:cNvSpPr/>
      </dsp:nvSpPr>
      <dsp:spPr>
        <a:xfrm>
          <a:off x="4073550" y="2755094"/>
          <a:ext cx="3702364" cy="2221418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100"/>
            <a:buFont typeface="Times New Roman" panose="02020603050405020304" pitchFamily="18" charset="0"/>
            <a:buNone/>
          </a:pPr>
          <a:r>
            <a:rPr lang="ru-RU" sz="2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Методика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100"/>
            <a:buFont typeface="Times New Roman" panose="02020603050405020304" pitchFamily="18" charset="0"/>
            <a:buNone/>
          </a:pPr>
          <a:r>
            <a:rPr lang="ru-RU" sz="2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“Мотивы выбора профессии”</a:t>
          </a:r>
          <a:r>
            <a:rPr lang="ru-RU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– автор 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100"/>
            <a:buFont typeface="Times New Roman" panose="02020603050405020304" pitchFamily="18" charset="0"/>
            <a:buNone/>
          </a:pPr>
          <a:r>
            <a:rPr lang="ru-RU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Р.В. Овчарова, 1996. </a:t>
          </a:r>
        </a:p>
      </dsp:txBody>
      <dsp:txXfrm>
        <a:off x="4073550" y="2755094"/>
        <a:ext cx="3702364" cy="222141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D0A97C-7444-4A14-B50B-E6B50A7585C6}">
      <dsp:nvSpPr>
        <dsp:cNvPr id="0" name=""/>
        <dsp:cNvSpPr/>
      </dsp:nvSpPr>
      <dsp:spPr>
        <a:xfrm>
          <a:off x="0" y="902986"/>
          <a:ext cx="3734957" cy="138240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1376" tIns="195072" rIns="341376" bIns="195072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800" kern="1200" dirty="0"/>
            <a:t>Группа 1</a:t>
          </a:r>
        </a:p>
      </dsp:txBody>
      <dsp:txXfrm>
        <a:off x="0" y="902986"/>
        <a:ext cx="3734957" cy="1382400"/>
      </dsp:txXfrm>
    </dsp:sp>
    <dsp:sp modelId="{2580B2AD-FDCC-4AF9-89B9-9EF385933288}">
      <dsp:nvSpPr>
        <dsp:cNvPr id="0" name=""/>
        <dsp:cNvSpPr/>
      </dsp:nvSpPr>
      <dsp:spPr>
        <a:xfrm>
          <a:off x="39" y="2337420"/>
          <a:ext cx="3734957" cy="2108160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6032" tIns="256032" rIns="341376" bIns="384048" numCol="1" spcCol="1270" anchor="t" anchorCtr="0">
          <a:noAutofit/>
        </a:bodyPr>
        <a:lstStyle/>
        <a:p>
          <a:pPr marL="285750" lvl="1" indent="-285750" algn="l" defTabSz="2133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4800" kern="1200" dirty="0">
              <a:latin typeface="Times New Roman" pitchFamily="18" charset="0"/>
              <a:cs typeface="Times New Roman" pitchFamily="18" charset="0"/>
            </a:rPr>
            <a:t>Родители</a:t>
          </a:r>
        </a:p>
      </dsp:txBody>
      <dsp:txXfrm>
        <a:off x="39" y="2337420"/>
        <a:ext cx="3734957" cy="2108160"/>
      </dsp:txXfrm>
    </dsp:sp>
    <dsp:sp modelId="{92D59D76-5337-4F5E-8A42-2D4E6ECFFD33}">
      <dsp:nvSpPr>
        <dsp:cNvPr id="0" name=""/>
        <dsp:cNvSpPr/>
      </dsp:nvSpPr>
      <dsp:spPr>
        <a:xfrm>
          <a:off x="4257891" y="955020"/>
          <a:ext cx="3734957" cy="138240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1376" tIns="195072" rIns="341376" bIns="195072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800" kern="1200" dirty="0"/>
            <a:t>Группа 2</a:t>
          </a:r>
        </a:p>
      </dsp:txBody>
      <dsp:txXfrm>
        <a:off x="4257891" y="955020"/>
        <a:ext cx="3734957" cy="1382400"/>
      </dsp:txXfrm>
    </dsp:sp>
    <dsp:sp modelId="{078EF39B-B168-41C7-94BC-E4C951294322}">
      <dsp:nvSpPr>
        <dsp:cNvPr id="0" name=""/>
        <dsp:cNvSpPr/>
      </dsp:nvSpPr>
      <dsp:spPr>
        <a:xfrm>
          <a:off x="4257891" y="2337420"/>
          <a:ext cx="3734957" cy="2108160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6032" tIns="256032" rIns="341376" bIns="384048" numCol="1" spcCol="1270" anchor="t" anchorCtr="0">
          <a:noAutofit/>
        </a:bodyPr>
        <a:lstStyle/>
        <a:p>
          <a:pPr marL="285750" lvl="1" indent="-285750" algn="l" defTabSz="2133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4800" kern="1200" dirty="0">
              <a:latin typeface="Times New Roman" pitchFamily="18" charset="0"/>
              <a:cs typeface="Times New Roman" pitchFamily="18" charset="0"/>
            </a:rPr>
            <a:t>Подростки</a:t>
          </a:r>
        </a:p>
      </dsp:txBody>
      <dsp:txXfrm>
        <a:off x="4257891" y="2337420"/>
        <a:ext cx="3734957" cy="21081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#1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F5C313-41C0-4FEB-A7CF-34B0805DFDEB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85BDA0-1040-4FF2-A679-A2829F47E6F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18316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Подпись некорректная!!!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85BDA0-1040-4FF2-A679-A2829F47E6FC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51628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Подпись некорректная!!!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85BDA0-1040-4FF2-A679-A2829F47E6FC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06246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BCB06-4956-429A-9569-89423BEC1149}" type="datetimeFigureOut">
              <a:rPr lang="ru-RU" smtClean="0"/>
              <a:pPr/>
              <a:t>20.02.2026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EF3CC-2E05-4257-865C-F8D486DFF22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25564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BCB06-4956-429A-9569-89423BEC1149}" type="datetimeFigureOut">
              <a:rPr lang="ru-RU" smtClean="0"/>
              <a:pPr/>
              <a:t>20.02.2026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EF3CC-2E05-4257-865C-F8D486DFF22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2231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BCB06-4956-429A-9569-89423BEC1149}" type="datetimeFigureOut">
              <a:rPr lang="ru-RU" smtClean="0"/>
              <a:pPr/>
              <a:t>20.02.2026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EF3CC-2E05-4257-865C-F8D486DFF22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58086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BCB06-4956-429A-9569-89423BEC1149}" type="datetimeFigureOut">
              <a:rPr lang="ru-RU" smtClean="0"/>
              <a:pPr/>
              <a:t>20.02.2026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EF3CC-2E05-4257-865C-F8D486DFF22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0768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BCB06-4956-429A-9569-89423BEC1149}" type="datetimeFigureOut">
              <a:rPr lang="ru-RU" smtClean="0"/>
              <a:pPr/>
              <a:t>20.02.2026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EF3CC-2E05-4257-865C-F8D486DFF22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47752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BCB06-4956-429A-9569-89423BEC1149}" type="datetimeFigureOut">
              <a:rPr lang="ru-RU" smtClean="0"/>
              <a:pPr/>
              <a:t>20.02.2026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EF3CC-2E05-4257-865C-F8D486DFF22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1095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BCB06-4956-429A-9569-89423BEC1149}" type="datetimeFigureOut">
              <a:rPr lang="ru-RU" smtClean="0"/>
              <a:pPr/>
              <a:t>20.02.2026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EF3CC-2E05-4257-865C-F8D486DFF22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11980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BCB06-4956-429A-9569-89423BEC1149}" type="datetimeFigureOut">
              <a:rPr lang="ru-RU" smtClean="0"/>
              <a:pPr/>
              <a:t>20.02.2026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EF3CC-2E05-4257-865C-F8D486DFF22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41528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BCB06-4956-429A-9569-89423BEC1149}" type="datetimeFigureOut">
              <a:rPr lang="ru-RU" smtClean="0"/>
              <a:pPr/>
              <a:t>20.02.2026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EF3CC-2E05-4257-865C-F8D486DFF22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34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BCB06-4956-429A-9569-89423BEC1149}" type="datetimeFigureOut">
              <a:rPr lang="ru-RU" smtClean="0"/>
              <a:pPr/>
              <a:t>20.02.2026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EF3CC-2E05-4257-865C-F8D486DFF22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8138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BCB06-4956-429A-9569-89423BEC1149}" type="datetimeFigureOut">
              <a:rPr lang="ru-RU" smtClean="0"/>
              <a:pPr/>
              <a:t>20.02.2026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EF3CC-2E05-4257-865C-F8D486DFF22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8732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DBCB06-4956-429A-9569-89423BEC1149}" type="datetimeFigureOut">
              <a:rPr lang="ru-RU" smtClean="0"/>
              <a:pPr/>
              <a:t>20.02.2026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3EF3CC-2E05-4257-865C-F8D486DFF22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7861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v.pospelov\Desktop\лого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528427"/>
            <a:ext cx="2380837" cy="679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C:\Users\v.pospelov\Desktop\паттерн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8144" y="0"/>
            <a:ext cx="3275856" cy="27766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6"/>
          <p:cNvSpPr>
            <a:spLocks noChangeArrowheads="1"/>
          </p:cNvSpPr>
          <p:nvPr/>
        </p:nvSpPr>
        <p:spPr bwMode="auto">
          <a:xfrm>
            <a:off x="251520" y="1700808"/>
            <a:ext cx="7488832" cy="22419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eaLnBrk="1" hangingPunct="1">
              <a:lnSpc>
                <a:spcPct val="150000"/>
              </a:lnSpc>
            </a:pPr>
            <a:r>
              <a:rPr lang="ru-RU" altLang="ru-RU" sz="2400" b="1" dirty="0">
                <a:latin typeface="Times New Roman" pitchFamily="18" charset="0"/>
                <a:cs typeface="Times New Roman" pitchFamily="18" charset="0"/>
              </a:rPr>
              <a:t>ТЕМА: </a:t>
            </a:r>
          </a:p>
          <a:p>
            <a:pPr algn="ctr" eaLnBrk="1" hangingPunct="1">
              <a:lnSpc>
                <a:spcPct val="150000"/>
              </a:lnSpc>
            </a:pPr>
            <a:r>
              <a:rPr lang="ru-RU" altLang="ru-RU" sz="2400" b="1" dirty="0">
                <a:latin typeface="Times New Roman" pitchFamily="18" charset="0"/>
                <a:cs typeface="Times New Roman" pitchFamily="18" charset="0"/>
              </a:rPr>
              <a:t>«Связь установок в детско-родительских отношениях  и профессионального выбора подростка»</a:t>
            </a:r>
            <a:endParaRPr lang="ru-RU" altLang="ru-RU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2"/>
          <p:cNvSpPr>
            <a:spLocks noGrp="1"/>
          </p:cNvSpPr>
          <p:nvPr>
            <p:ph type="ctrTitle"/>
          </p:nvPr>
        </p:nvSpPr>
        <p:spPr>
          <a:xfrm>
            <a:off x="3094038" y="3645024"/>
            <a:ext cx="6049962" cy="3457575"/>
          </a:xfrm>
        </p:spPr>
        <p:txBody>
          <a:bodyPr>
            <a:normAutofit/>
          </a:bodyPr>
          <a:lstStyle/>
          <a:p>
            <a:pPr eaLnBrk="1" hangingPunct="1"/>
            <a:r>
              <a:rPr lang="ru-RU" altLang="ru-RU" sz="1800" dirty="0">
                <a:latin typeface="Times New Roman" pitchFamily="18" charset="0"/>
              </a:rPr>
              <a:t>Выполнила: студентка группы 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ПС5А21/09 ПКЧ</a:t>
            </a:r>
            <a:br>
              <a:rPr lang="ru-RU" altLang="ru-RU" sz="1800" dirty="0">
                <a:latin typeface="Times New Roman" pitchFamily="18" charset="0"/>
              </a:rPr>
            </a:br>
            <a:r>
              <a:rPr lang="ru-RU" altLang="ru-RU" sz="1800" dirty="0">
                <a:latin typeface="Times New Roman" pitchFamily="18" charset="0"/>
              </a:rPr>
              <a:t>Ворошилова Анна</a:t>
            </a:r>
            <a:br>
              <a:rPr lang="ru-RU" altLang="ru-RU" sz="1800" dirty="0">
                <a:solidFill>
                  <a:srgbClr val="FF0000"/>
                </a:solidFill>
                <a:latin typeface="Times New Roman" pitchFamily="18" charset="0"/>
              </a:rPr>
            </a:br>
            <a:br>
              <a:rPr lang="ru-RU" altLang="ru-RU" sz="1800" dirty="0">
                <a:latin typeface="Times New Roman" pitchFamily="18" charset="0"/>
              </a:rPr>
            </a:br>
            <a:r>
              <a:rPr lang="ru-RU" altLang="ru-RU" sz="1800" dirty="0">
                <a:latin typeface="Times New Roman" pitchFamily="18" charset="0"/>
              </a:rPr>
              <a:t>Научный руководитель: старший преподаватель </a:t>
            </a:r>
            <a:br>
              <a:rPr lang="ru-RU" altLang="ru-RU" sz="1800" dirty="0">
                <a:latin typeface="Times New Roman" pitchFamily="18" charset="0"/>
              </a:rPr>
            </a:br>
            <a:r>
              <a:rPr lang="ru-RU" altLang="ru-RU" sz="1800" dirty="0">
                <a:latin typeface="Times New Roman" pitchFamily="18" charset="0"/>
              </a:rPr>
              <a:t>НОЧУ ВО «Московский институт психоанализа» </a:t>
            </a:r>
            <a:br>
              <a:rPr lang="ru-RU" altLang="ru-RU" sz="1800" dirty="0">
                <a:latin typeface="Times New Roman" pitchFamily="18" charset="0"/>
              </a:rPr>
            </a:br>
            <a:r>
              <a:rPr lang="ru-RU" altLang="ru-RU" sz="1800" dirty="0">
                <a:latin typeface="Times New Roman" pitchFamily="18" charset="0"/>
              </a:rPr>
              <a:t>Манина Ирина Ивановна</a:t>
            </a:r>
            <a:br>
              <a:rPr lang="ru-RU" altLang="ru-RU" sz="1800" dirty="0">
                <a:latin typeface="Times New Roman" pitchFamily="18" charset="0"/>
              </a:rPr>
            </a:br>
            <a:endParaRPr lang="ru-RU" altLang="ru-RU" sz="1800" dirty="0"/>
          </a:p>
        </p:txBody>
      </p:sp>
    </p:spTree>
    <p:extLst>
      <p:ext uri="{BB962C8B-B14F-4D97-AF65-F5344CB8AC3E}">
        <p14:creationId xmlns:p14="http://schemas.microsoft.com/office/powerpoint/2010/main" val="4038465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v.pospelov\Desktop\птт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4305" y="30882"/>
            <a:ext cx="912744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C:\Users\v.pospelov\Desktop\лого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528427"/>
            <a:ext cx="2380837" cy="679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952221" y="1320825"/>
            <a:ext cx="7992888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indent="449263" algn="just" eaLnBrk="1" hangingPunct="1"/>
            <a:r>
              <a:rPr lang="ru-RU" altLang="ru-RU" sz="2400" b="1" dirty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Актуальность темы исследования:</a:t>
            </a:r>
            <a:endParaRPr lang="ru-RU" altLang="ru-RU" sz="2400" dirty="0"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indent="449263" algn="just" eaLnBrk="1" hangingPunct="1"/>
            <a:endParaRPr lang="ru-RU" altLang="ru-RU" sz="2000" u="sng" dirty="0"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148C8F-02C5-418C-BBEE-AC82E5997A5A}"/>
              </a:ext>
            </a:extLst>
          </p:cNvPr>
          <p:cNvSpPr txBox="1"/>
          <p:nvPr/>
        </p:nvSpPr>
        <p:spPr>
          <a:xfrm>
            <a:off x="804192" y="1916832"/>
            <a:ext cx="679214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 условиях стремительных социально-экономических и технологических изменений особую актуальность приобретает проблема профессионального самоопределения подростков как ключевого этапа формирования личности и жизненного пути. Существенную роль в данном процессе занимают детско-родительские отношения, определяющие систему ценностей, установок и степень самостоятельности выбора. При признании значимости семейного влияния остаются недостаточно исследованными конкретные психологические механизмы воздействия родительских установок на характер и качество профессионального выбора, что обусловливает противоречие между теоретической разработанностью темы и практической потребностью в её эмпирическом осмыслении.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14070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v.pospelov\Desktop\птт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2744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C:\Users\v.pospelov\Desktop\лого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528427"/>
            <a:ext cx="2380837" cy="679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683568" y="1443842"/>
            <a:ext cx="7560840" cy="3970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indent="449263"/>
            <a:r>
              <a:rPr lang="ru-RU" altLang="ru-RU" sz="2400" b="1" dirty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Цель исследования: </a:t>
            </a:r>
          </a:p>
          <a:p>
            <a:pPr indent="449263"/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выявить наличие статистически значимых связей между родительскими установками и профессиональным выбором подростков.</a:t>
            </a:r>
          </a:p>
          <a:p>
            <a:pPr indent="449263" algn="just"/>
            <a:endParaRPr lang="ru-RU" altLang="ru-RU" sz="2400" b="1" dirty="0"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indent="449263" algn="just"/>
            <a:r>
              <a:rPr lang="ru-RU" altLang="ru-RU" sz="2400" b="1" dirty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Объект исследования: </a:t>
            </a:r>
          </a:p>
          <a:p>
            <a:pPr indent="449263" algn="just"/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профессиональное самоопределение подростков.</a:t>
            </a:r>
          </a:p>
          <a:p>
            <a:pPr indent="449263" algn="just"/>
            <a:endParaRPr lang="ru-RU" altLang="ru-RU" sz="2400" dirty="0"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indent="449263" algn="just">
              <a:lnSpc>
                <a:spcPct val="150000"/>
              </a:lnSpc>
            </a:pPr>
            <a:r>
              <a:rPr lang="ru-RU" altLang="ru-RU" sz="2400" b="1" dirty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Предмет исследования: </a:t>
            </a:r>
          </a:p>
          <a:p>
            <a:pPr indent="449263" algn="just"/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связь установок в детско-родительских отношениях  и профессионального выбора подростков. </a:t>
            </a:r>
            <a:endParaRPr lang="ru-RU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54652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v.pospelov\Desktop\птт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2744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C:\Users\v.pospelov\Desktop\лого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528427"/>
            <a:ext cx="2380837" cy="679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Объект 2"/>
          <p:cNvSpPr>
            <a:spLocks noGrp="1"/>
          </p:cNvSpPr>
          <p:nvPr>
            <p:ph idx="1"/>
          </p:nvPr>
        </p:nvSpPr>
        <p:spPr>
          <a:xfrm>
            <a:off x="827584" y="1268760"/>
            <a:ext cx="7259960" cy="4896544"/>
          </a:xfrm>
        </p:spPr>
        <p:txBody>
          <a:bodyPr>
            <a:normAutofit fontScale="77500" lnSpcReduction="20000"/>
          </a:bodyPr>
          <a:lstStyle/>
          <a:p>
            <a:pPr marL="0" indent="0" algn="ctr">
              <a:buFont typeface="Arial" charset="0"/>
              <a:buNone/>
            </a:pPr>
            <a:r>
              <a:rPr lang="ru-RU" altLang="ru-RU" sz="3600" b="1" dirty="0">
                <a:latin typeface="Times New Roman" pitchFamily="18" charset="0"/>
                <a:cs typeface="Times New Roman" pitchFamily="18" charset="0"/>
              </a:rPr>
              <a:t>Задачи исследования:</a:t>
            </a:r>
          </a:p>
          <a:p>
            <a:pPr marL="0" indent="0" algn="just">
              <a:buFont typeface="Arial" charset="0"/>
              <a:buNone/>
            </a:pPr>
            <a:endParaRPr lang="ru-RU" altLang="ru-RU" sz="2900" b="1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spcBef>
                <a:spcPts val="0"/>
              </a:spcBef>
              <a:buFont typeface="Arial" charset="0"/>
              <a:buNone/>
            </a:pPr>
            <a:r>
              <a:rPr lang="ru-RU" altLang="ru-RU" sz="29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ru-RU" altLang="ru-RU" sz="2600" dirty="0">
                <a:latin typeface="Times New Roman" pitchFamily="18" charset="0"/>
                <a:cs typeface="Times New Roman" pitchFamily="18" charset="0"/>
              </a:rPr>
              <a:t>. Провести теоретический анализ научных подходов к изучению детско-родительских установок как факторов развития личности подростка.</a:t>
            </a:r>
          </a:p>
          <a:p>
            <a:pPr marL="0" indent="0">
              <a:spcBef>
                <a:spcPts val="0"/>
              </a:spcBef>
              <a:buFont typeface="Arial" charset="0"/>
              <a:buNone/>
            </a:pPr>
            <a:r>
              <a:rPr lang="ru-RU" altLang="ru-RU" sz="2600" dirty="0">
                <a:latin typeface="Times New Roman" pitchFamily="18" charset="0"/>
                <a:cs typeface="Times New Roman" pitchFamily="18" charset="0"/>
              </a:rPr>
              <a:t>2. Проанализировать теоретические подходы к профессиональному самоопределению подростков.</a:t>
            </a:r>
          </a:p>
          <a:p>
            <a:pPr marL="0" indent="0">
              <a:spcBef>
                <a:spcPts val="0"/>
              </a:spcBef>
              <a:buFont typeface="Arial" charset="0"/>
              <a:buNone/>
            </a:pPr>
            <a:r>
              <a:rPr lang="ru-RU" altLang="ru-RU" sz="2600" dirty="0">
                <a:latin typeface="Times New Roman" pitchFamily="18" charset="0"/>
                <a:cs typeface="Times New Roman" pitchFamily="18" charset="0"/>
              </a:rPr>
              <a:t>3. Подобрать диагностический инструментарий и сформировать выборку исследования. </a:t>
            </a:r>
          </a:p>
          <a:p>
            <a:pPr marL="0" indent="0">
              <a:spcBef>
                <a:spcPts val="0"/>
              </a:spcBef>
              <a:buFont typeface="Arial" charset="0"/>
              <a:buNone/>
            </a:pPr>
            <a:r>
              <a:rPr lang="ru-RU" altLang="ru-RU" sz="2600" dirty="0">
                <a:latin typeface="Times New Roman" pitchFamily="18" charset="0"/>
                <a:cs typeface="Times New Roman" pitchFamily="18" charset="0"/>
              </a:rPr>
              <a:t>4. Провести эмпирическое исследование. </a:t>
            </a:r>
          </a:p>
          <a:p>
            <a:pPr marL="0" indent="0">
              <a:spcBef>
                <a:spcPts val="0"/>
              </a:spcBef>
              <a:buFont typeface="Arial" charset="0"/>
              <a:buNone/>
            </a:pPr>
            <a:r>
              <a:rPr lang="ru-RU" altLang="ru-RU" sz="2600" dirty="0">
                <a:latin typeface="Times New Roman" pitchFamily="18" charset="0"/>
                <a:cs typeface="Times New Roman" pitchFamily="18" charset="0"/>
              </a:rPr>
              <a:t>5.Выполнить обработку результатов исследования и провести математико-статистический анализ данных (корреляционный анализ) для выявления статистически значимых связей между изучаемыми показателями.</a:t>
            </a:r>
          </a:p>
          <a:p>
            <a:pPr marL="0" indent="0">
              <a:spcBef>
                <a:spcPts val="0"/>
              </a:spcBef>
              <a:buFont typeface="Arial" charset="0"/>
              <a:buNone/>
            </a:pPr>
            <a:r>
              <a:rPr lang="ru-RU" altLang="ru-RU" sz="2600" dirty="0">
                <a:latin typeface="Times New Roman" pitchFamily="18" charset="0"/>
                <a:cs typeface="Times New Roman" pitchFamily="18" charset="0"/>
              </a:rPr>
              <a:t>6. Проанализировать и интерпретировать полученные результаты, сформулировать выводы.</a:t>
            </a:r>
          </a:p>
          <a:p>
            <a:pPr marL="0" indent="0">
              <a:spcBef>
                <a:spcPts val="0"/>
              </a:spcBef>
              <a:buFont typeface="Arial" charset="0"/>
              <a:buNone/>
            </a:pPr>
            <a:r>
              <a:rPr lang="ru-RU" altLang="ru-RU" sz="2600" dirty="0">
                <a:latin typeface="Times New Roman" pitchFamily="18" charset="0"/>
                <a:cs typeface="Times New Roman" pitchFamily="18" charset="0"/>
              </a:rPr>
              <a:t>7. Разработать практические рекомендации для психологов, педагогов и родителей.</a:t>
            </a:r>
          </a:p>
        </p:txBody>
      </p:sp>
    </p:spTree>
    <p:extLst>
      <p:ext uri="{BB962C8B-B14F-4D97-AF65-F5344CB8AC3E}">
        <p14:creationId xmlns:p14="http://schemas.microsoft.com/office/powerpoint/2010/main" val="5954652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v.pospelov\Desktop\птт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58" y="0"/>
            <a:ext cx="912744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C:\Users\v.pospelov\Desktop\лого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528427"/>
            <a:ext cx="2380837" cy="679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467544" y="1741951"/>
            <a:ext cx="7704856" cy="3713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indent="450215">
              <a:spcAft>
                <a:spcPts val="800"/>
              </a:spcAft>
            </a:pPr>
            <a:r>
              <a:rPr lang="ru-RU" sz="1800" b="1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Гипотеза исследования:</a:t>
            </a:r>
            <a:r>
              <a:rPr lang="ru-RU" sz="1800" u="sng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80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предполагается, 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что существует значимая связь между установками в детско-родительских отношениях и основными параметрами профессионального выбора подростков (направленностью, мотивацией и степенью самостоятельности).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>
              <a:spcAft>
                <a:spcPts val="800"/>
              </a:spcAft>
            </a:pPr>
            <a:r>
              <a:rPr lang="ru-RU" sz="1800" b="1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Частные гипотезы:</a:t>
            </a:r>
            <a:br>
              <a:rPr lang="ru-RU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 при 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низкой оценке способностей ребенка родителем, подросток менее ориентирован на профессии, дающие возможности для профессионального роста;</a:t>
            </a:r>
            <a:b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 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при 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положительной оценке характера ребенка родителем, подросток </a:t>
            </a:r>
            <a:r>
              <a:rPr lang="ru-RU" sz="180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ориентирован на самопознание и выбор профессий, позволяющих применять профессиональные умения в различных жизненных контекстах.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49263" algn="just" eaLnBrk="1" hangingPunct="1"/>
            <a:endParaRPr lang="ru-RU" altLang="ru-RU" sz="2400" dirty="0"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1160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v.pospelov\Desktop\птт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2744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C:\Users\v.pospelov\Desktop\лого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528427"/>
            <a:ext cx="2380837" cy="679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Схема 3"/>
          <p:cNvGraphicFramePr/>
          <p:nvPr>
            <p:extLst>
              <p:ext uri="{D42A27DB-BD31-4B8C-83A1-F6EECF244321}">
                <p14:modId xmlns:p14="http://schemas.microsoft.com/office/powerpoint/2010/main" val="2111777690"/>
              </p:ext>
            </p:extLst>
          </p:nvPr>
        </p:nvGraphicFramePr>
        <p:xfrm>
          <a:off x="323528" y="0"/>
          <a:ext cx="7776864" cy="51399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5954652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v.pospelov\Desktop\птт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2744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C:\Users\v.pospelov\Desktop\лого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528427"/>
            <a:ext cx="2380837" cy="679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Объект 2"/>
          <p:cNvSpPr>
            <a:spLocks noGrp="1"/>
          </p:cNvSpPr>
          <p:nvPr>
            <p:ph idx="1"/>
          </p:nvPr>
        </p:nvSpPr>
        <p:spPr>
          <a:xfrm>
            <a:off x="324036" y="1208001"/>
            <a:ext cx="7992888" cy="446434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altLang="ru-RU" sz="2400" b="1" dirty="0">
                <a:latin typeface="Times New Roman" pitchFamily="18" charset="0"/>
                <a:cs typeface="Times New Roman" pitchFamily="18" charset="0"/>
              </a:rPr>
              <a:t>Эмпирическая база исследования:</a:t>
            </a:r>
            <a:endParaRPr lang="ru-RU" altLang="ru-RU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Font typeface="Arial" charset="0"/>
              <a:buNone/>
            </a:pPr>
            <a:r>
              <a:rPr lang="ru-RU" altLang="ru-RU" sz="1800" dirty="0">
                <a:latin typeface="Times New Roman" pitchFamily="18" charset="0"/>
                <a:cs typeface="Times New Roman" pitchFamily="18" charset="0"/>
              </a:rPr>
              <a:t>МБНОУ Гимназия № 56 г. Санкт-Петербурга</a:t>
            </a:r>
            <a:endParaRPr lang="ru-RU" altLang="ru-RU" sz="1800" b="1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Font typeface="Arial" charset="0"/>
              <a:buNone/>
            </a:pPr>
            <a:r>
              <a:rPr lang="ru-RU" altLang="ru-RU" sz="2400" b="1" dirty="0">
                <a:latin typeface="Times New Roman" pitchFamily="18" charset="0"/>
                <a:cs typeface="Times New Roman" pitchFamily="18" charset="0"/>
              </a:rPr>
              <a:t>Характеристика выборки исследования:</a:t>
            </a:r>
          </a:p>
          <a:p>
            <a:pPr marL="0" indent="0" algn="just">
              <a:buFont typeface="Arial" charset="0"/>
              <a:buNone/>
            </a:pPr>
            <a:r>
              <a:rPr lang="ru-RU" altLang="ru-RU" sz="1600" b="1" dirty="0">
                <a:latin typeface="Times New Roman" pitchFamily="18" charset="0"/>
                <a:cs typeface="Times New Roman" pitchFamily="18" charset="0"/>
              </a:rPr>
              <a:t>Подростки</a:t>
            </a:r>
          </a:p>
          <a:p>
            <a:pPr marL="0" indent="0" algn="just">
              <a:buNone/>
            </a:pPr>
            <a:r>
              <a:rPr lang="ru-RU" altLang="ru-RU" sz="1600" dirty="0">
                <a:latin typeface="Times New Roman" pitchFamily="18" charset="0"/>
                <a:cs typeface="Times New Roman" pitchFamily="18" charset="0"/>
              </a:rPr>
              <a:t>Общее количество: 50 подростков</a:t>
            </a:r>
          </a:p>
          <a:p>
            <a:pPr marL="0" indent="0" algn="just">
              <a:buNone/>
            </a:pPr>
            <a:r>
              <a:rPr lang="ru-RU" altLang="ru-RU" sz="1600" dirty="0">
                <a:latin typeface="Times New Roman" pitchFamily="18" charset="0"/>
                <a:cs typeface="Times New Roman" pitchFamily="18" charset="0"/>
              </a:rPr>
              <a:t>Пол: 50% девушки, 50% юноши </a:t>
            </a:r>
          </a:p>
          <a:p>
            <a:pPr marL="0" indent="0" algn="just">
              <a:buFont typeface="Arial" charset="0"/>
              <a:buNone/>
            </a:pPr>
            <a:r>
              <a:rPr lang="ru-RU" altLang="ru-RU" sz="1600" dirty="0">
                <a:latin typeface="Times New Roman" pitchFamily="18" charset="0"/>
                <a:cs typeface="Times New Roman" pitchFamily="18" charset="0"/>
              </a:rPr>
              <a:t>•Возраст: учащиеся 9–11-х классов</a:t>
            </a:r>
          </a:p>
          <a:p>
            <a:pPr marL="0" indent="0" algn="just">
              <a:buFont typeface="Arial" charset="0"/>
              <a:buNone/>
            </a:pPr>
            <a:r>
              <a:rPr lang="ru-RU" altLang="ru-RU" sz="1600" dirty="0">
                <a:latin typeface="Times New Roman" pitchFamily="18" charset="0"/>
                <a:cs typeface="Times New Roman" pitchFamily="18" charset="0"/>
              </a:rPr>
              <a:t>•Диапазон возраста: 14–16 лет</a:t>
            </a:r>
          </a:p>
          <a:p>
            <a:pPr marL="0" indent="0" algn="just">
              <a:buFont typeface="Arial" charset="0"/>
              <a:buNone/>
            </a:pPr>
            <a:r>
              <a:rPr lang="ru-RU" altLang="ru-RU" sz="1600" dirty="0">
                <a:latin typeface="Times New Roman" pitchFamily="18" charset="0"/>
                <a:cs typeface="Times New Roman" pitchFamily="18" charset="0"/>
              </a:rPr>
              <a:t>•Средний возраст: 15,1 лет</a:t>
            </a:r>
          </a:p>
          <a:p>
            <a:pPr marL="0" indent="0" algn="just">
              <a:buFont typeface="Arial" charset="0"/>
              <a:buNone/>
            </a:pPr>
            <a:r>
              <a:rPr lang="ru-RU" altLang="ru-RU" sz="1600" dirty="0">
                <a:latin typeface="Times New Roman" pitchFamily="18" charset="0"/>
                <a:cs typeface="Times New Roman" pitchFamily="18" charset="0"/>
              </a:rPr>
              <a:t>•</a:t>
            </a:r>
            <a:endParaRPr lang="ru-RU" altLang="ru-RU" sz="2000" b="1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Font typeface="Arial" charset="0"/>
              <a:buNone/>
            </a:pPr>
            <a:endParaRPr lang="ru-RU" altLang="ru-RU" sz="2000" b="1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Font typeface="Arial" charset="0"/>
              <a:buNone/>
            </a:pPr>
            <a:endParaRPr lang="ru-RU" altLang="ru-RU" sz="2000" b="1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6" name="Диаграмма 5">
            <a:extLst>
              <a:ext uri="{FF2B5EF4-FFF2-40B4-BE49-F238E27FC236}">
                <a16:creationId xmlns:a16="http://schemas.microsoft.com/office/drawing/2014/main" id="{C1B3FA75-04F4-497B-AE09-1FB516D8C84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20070028"/>
              </p:ext>
            </p:extLst>
          </p:nvPr>
        </p:nvGraphicFramePr>
        <p:xfrm>
          <a:off x="3419872" y="3994442"/>
          <a:ext cx="3742148" cy="23042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" name="Диаграмма 6">
            <a:extLst>
              <a:ext uri="{FF2B5EF4-FFF2-40B4-BE49-F238E27FC236}">
                <a16:creationId xmlns:a16="http://schemas.microsoft.com/office/drawing/2014/main" id="{B7AB8DC8-C7E9-485B-AB26-1F904D53240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13619086"/>
              </p:ext>
            </p:extLst>
          </p:nvPr>
        </p:nvGraphicFramePr>
        <p:xfrm>
          <a:off x="-162868" y="4089926"/>
          <a:ext cx="3742148" cy="22087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82D9D207-DE2F-4925-9E19-DFC0D1ADCC07}"/>
              </a:ext>
            </a:extLst>
          </p:cNvPr>
          <p:cNvSpPr txBox="1"/>
          <p:nvPr/>
        </p:nvSpPr>
        <p:spPr>
          <a:xfrm>
            <a:off x="3742149" y="2348880"/>
            <a:ext cx="3926218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Родители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•Общее количество: 50 родителей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•Пол: 52% женщины, 44% мужчины, 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4% отказались</a:t>
            </a:r>
            <a:b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от идентификации по полу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•Возраст: данные не собирались в рамках </a:t>
            </a:r>
            <a:b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исследования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954652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v.pospelov\Desktop\птт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2744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C:\Users\v.pospelov\Desktop\лого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528427"/>
            <a:ext cx="2380837" cy="679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Схема 3"/>
          <p:cNvGraphicFramePr/>
          <p:nvPr>
            <p:extLst>
              <p:ext uri="{D42A27DB-BD31-4B8C-83A1-F6EECF244321}">
                <p14:modId xmlns:p14="http://schemas.microsoft.com/office/powerpoint/2010/main" val="3856391524"/>
              </p:ext>
            </p:extLst>
          </p:nvPr>
        </p:nvGraphicFramePr>
        <p:xfrm>
          <a:off x="251520" y="692696"/>
          <a:ext cx="7992888" cy="5400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5954652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v.pospelov\Desktop\птт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58" y="0"/>
            <a:ext cx="912744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C:\Users\v.pospelov\Desktop\лого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528427"/>
            <a:ext cx="2380837" cy="679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13"/>
          <p:cNvSpPr>
            <a:spLocks noChangeArrowheads="1"/>
          </p:cNvSpPr>
          <p:nvPr/>
        </p:nvSpPr>
        <p:spPr bwMode="auto">
          <a:xfrm>
            <a:off x="3059832" y="214481"/>
            <a:ext cx="5400600" cy="16066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indent="449263" algn="ctr">
              <a:lnSpc>
                <a:spcPct val="150000"/>
              </a:lnSpc>
            </a:pPr>
            <a:r>
              <a:rPr lang="ru-RU" altLang="ru-RU" sz="1600" b="1" u="sng" dirty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Результаты</a:t>
            </a:r>
            <a:r>
              <a:rPr lang="ru-RU" sz="1600" b="1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корреляции между ВРР И.М. Марковской [33] и «Мотивы выбора профессии» Р.В. </a:t>
            </a:r>
            <a:r>
              <a:rPr lang="ru-RU" sz="1600" b="1" u="sng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Овчаровой</a:t>
            </a:r>
            <a:r>
              <a:rPr lang="ru-RU" sz="1600" b="1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[43]</a:t>
            </a:r>
            <a:endParaRPr lang="ru-RU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49263" algn="ctr" eaLnBrk="1" hangingPunct="1">
              <a:lnSpc>
                <a:spcPct val="150000"/>
              </a:lnSpc>
            </a:pPr>
            <a:endParaRPr lang="ru-RU" altLang="ru-RU" sz="2000" b="1" dirty="0"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E3C361F9-90F3-4C6D-B2C5-665A9B770AD7}"/>
              </a:ext>
            </a:extLst>
          </p:cNvPr>
          <p:cNvGrpSpPr/>
          <p:nvPr/>
        </p:nvGrpSpPr>
        <p:grpSpPr>
          <a:xfrm>
            <a:off x="1216660" y="1461251"/>
            <a:ext cx="6545580" cy="3695700"/>
            <a:chOff x="0" y="0"/>
            <a:chExt cx="6545580" cy="3695700"/>
          </a:xfrm>
        </p:grpSpPr>
        <p:sp>
          <p:nvSpPr>
            <p:cNvPr id="8" name="Надпись 2">
              <a:extLst>
                <a:ext uri="{FF2B5EF4-FFF2-40B4-BE49-F238E27FC236}">
                  <a16:creationId xmlns:a16="http://schemas.microsoft.com/office/drawing/2014/main" id="{D13F8F40-C947-41C0-BD9C-B9867AC608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87880" y="2567940"/>
              <a:ext cx="2376804" cy="2724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spAutoFit/>
            </a:bodyPr>
            <a:lstStyle/>
            <a:p>
              <a:pPr algn="just">
                <a:lnSpc>
                  <a:spcPct val="106000"/>
                </a:lnSpc>
                <a:spcAft>
                  <a:spcPts val="800"/>
                </a:spcAft>
              </a:pPr>
              <a:r>
                <a:rPr lang="ru-RU" sz="1100" b="1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0,328*</a:t>
              </a:r>
              <a:endParaRPr lang="ru-RU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9" name="Группа 8">
              <a:extLst>
                <a:ext uri="{FF2B5EF4-FFF2-40B4-BE49-F238E27FC236}">
                  <a16:creationId xmlns:a16="http://schemas.microsoft.com/office/drawing/2014/main" id="{6510568D-93D7-4C24-8A55-4477802C7CFD}"/>
                </a:ext>
              </a:extLst>
            </p:cNvPr>
            <p:cNvGrpSpPr/>
            <p:nvPr/>
          </p:nvGrpSpPr>
          <p:grpSpPr>
            <a:xfrm>
              <a:off x="0" y="0"/>
              <a:ext cx="6545580" cy="3695700"/>
              <a:chOff x="0" y="0"/>
              <a:chExt cx="6545580" cy="3695700"/>
            </a:xfrm>
          </p:grpSpPr>
          <p:sp>
            <p:nvSpPr>
              <p:cNvPr id="11" name="Надпись 2">
                <a:extLst>
                  <a:ext uri="{FF2B5EF4-FFF2-40B4-BE49-F238E27FC236}">
                    <a16:creationId xmlns:a16="http://schemas.microsoft.com/office/drawing/2014/main" id="{341BDC48-8525-499B-99DD-6FC87F9FFD0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71800" y="2438400"/>
                <a:ext cx="2376804" cy="27241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>
                <a:spAutoFit/>
              </a:bodyPr>
              <a:lstStyle/>
              <a:p>
                <a:pPr algn="just">
                  <a:lnSpc>
                    <a:spcPct val="106000"/>
                  </a:lnSpc>
                  <a:spcAft>
                    <a:spcPts val="800"/>
                  </a:spcAft>
                </a:pPr>
                <a:r>
                  <a:rPr lang="ru-RU" sz="1100" b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-0,349*</a:t>
                </a:r>
                <a:endParaRPr lang="ru-RU" sz="1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2" name="Группа 11">
                <a:extLst>
                  <a:ext uri="{FF2B5EF4-FFF2-40B4-BE49-F238E27FC236}">
                    <a16:creationId xmlns:a16="http://schemas.microsoft.com/office/drawing/2014/main" id="{7E48F46F-9E8F-453A-A0FC-EFCFF206BD94}"/>
                  </a:ext>
                </a:extLst>
              </p:cNvPr>
              <p:cNvGrpSpPr/>
              <p:nvPr/>
            </p:nvGrpSpPr>
            <p:grpSpPr>
              <a:xfrm>
                <a:off x="0" y="0"/>
                <a:ext cx="6545580" cy="3695700"/>
                <a:chOff x="0" y="0"/>
                <a:chExt cx="6545580" cy="3695700"/>
              </a:xfrm>
            </p:grpSpPr>
            <p:grpSp>
              <p:nvGrpSpPr>
                <p:cNvPr id="13" name="Группа 12">
                  <a:extLst>
                    <a:ext uri="{FF2B5EF4-FFF2-40B4-BE49-F238E27FC236}">
                      <a16:creationId xmlns:a16="http://schemas.microsoft.com/office/drawing/2014/main" id="{E46C066B-D0A6-4A96-826E-F767E9A397C0}"/>
                    </a:ext>
                  </a:extLst>
                </p:cNvPr>
                <p:cNvGrpSpPr/>
                <p:nvPr/>
              </p:nvGrpSpPr>
              <p:grpSpPr>
                <a:xfrm>
                  <a:off x="0" y="0"/>
                  <a:ext cx="6545580" cy="3695700"/>
                  <a:chOff x="0" y="0"/>
                  <a:chExt cx="6545580" cy="3695700"/>
                </a:xfrm>
              </p:grpSpPr>
              <p:grpSp>
                <p:nvGrpSpPr>
                  <p:cNvPr id="15" name="Группа 14">
                    <a:extLst>
                      <a:ext uri="{FF2B5EF4-FFF2-40B4-BE49-F238E27FC236}">
                        <a16:creationId xmlns:a16="http://schemas.microsoft.com/office/drawing/2014/main" id="{2853D573-6ACF-4933-863E-5E082061F1A5}"/>
                      </a:ext>
                    </a:extLst>
                  </p:cNvPr>
                  <p:cNvGrpSpPr/>
                  <p:nvPr/>
                </p:nvGrpSpPr>
                <p:grpSpPr>
                  <a:xfrm>
                    <a:off x="0" y="0"/>
                    <a:ext cx="6545580" cy="3695700"/>
                    <a:chOff x="0" y="0"/>
                    <a:chExt cx="6545580" cy="3695700"/>
                  </a:xfrm>
                </p:grpSpPr>
                <p:sp>
                  <p:nvSpPr>
                    <p:cNvPr id="17" name="Прямоугольник: скругленные углы 16">
                      <a:extLst>
                        <a:ext uri="{FF2B5EF4-FFF2-40B4-BE49-F238E27FC236}">
                          <a16:creationId xmlns:a16="http://schemas.microsoft.com/office/drawing/2014/main" id="{B189F38F-3197-4429-AAF5-E7C1DC281C7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985260" y="464820"/>
                      <a:ext cx="1988820" cy="510540"/>
                    </a:xfrm>
                    <a:prstGeom prst="roundRect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635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just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ru-RU" sz="1100" dirty="0">
                          <a:solidFill>
                            <a:srgbClr val="171717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19. Я не считаю ее/его таким умным и способным…</a:t>
                      </a:r>
                      <a:endParaRPr lang="ru-RU" sz="1100" dirty="0">
                        <a:effectLst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18" name="Прямоугольник: скругленные углы 17">
                      <a:extLst>
                        <a:ext uri="{FF2B5EF4-FFF2-40B4-BE49-F238E27FC236}">
                          <a16:creationId xmlns:a16="http://schemas.microsoft.com/office/drawing/2014/main" id="{D83AA52E-6C9E-4F77-98C2-2FC82DC95D2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00500" y="1303020"/>
                      <a:ext cx="1988820" cy="510540"/>
                    </a:xfrm>
                    <a:prstGeom prst="roundRect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12700" cap="flat" cmpd="sng" algn="ctr">
                      <a:solidFill>
                        <a:srgbClr val="4472C4">
                          <a:shade val="50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just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ru-RU" sz="1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21. Я часто иду у него/нее на поводу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19" name="Прямоугольник: скругленные углы 18">
                      <a:extLst>
                        <a:ext uri="{FF2B5EF4-FFF2-40B4-BE49-F238E27FC236}">
                          <a16:creationId xmlns:a16="http://schemas.microsoft.com/office/drawing/2014/main" id="{54B694E3-AB79-458D-A399-6D38D2D1ED9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00500" y="2118360"/>
                      <a:ext cx="1988820" cy="510540"/>
                    </a:xfrm>
                    <a:prstGeom prst="roundRect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12700" cap="flat" cmpd="sng" algn="ctr">
                      <a:solidFill>
                        <a:srgbClr val="4472C4">
                          <a:shade val="50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just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ru-RU" sz="1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42. Мне нравится его/ее характер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20" name="Прямоугольник: скругленные углы 19">
                      <a:extLst>
                        <a:ext uri="{FF2B5EF4-FFF2-40B4-BE49-F238E27FC236}">
                          <a16:creationId xmlns:a16="http://schemas.microsoft.com/office/drawing/2014/main" id="{13F9EB91-EE46-4C2F-B9CD-273CB431566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23360" y="2941320"/>
                      <a:ext cx="1988820" cy="754380"/>
                    </a:xfrm>
                    <a:prstGeom prst="roundRect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12700" cap="flat" cmpd="sng" algn="ctr">
                      <a:solidFill>
                        <a:srgbClr val="4472C4">
                          <a:shade val="50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just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ru-RU" sz="1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57. Мы по-разному представляем с его/ее будущее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21" name="Прямоугольник: скругленные углы 20">
                      <a:extLst>
                        <a:ext uri="{FF2B5EF4-FFF2-40B4-BE49-F238E27FC236}">
                          <a16:creationId xmlns:a16="http://schemas.microsoft.com/office/drawing/2014/main" id="{E2F214F9-A813-4D2F-B9BA-7D119380E66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36220" y="2567940"/>
                      <a:ext cx="1463040" cy="312420"/>
                    </a:xfrm>
                    <a:prstGeom prst="roundRect">
                      <a:avLst/>
                    </a:prstGeom>
                    <a:solidFill>
                      <a:schemeClr val="accent4">
                        <a:lumMod val="40000"/>
                        <a:lumOff val="60000"/>
                      </a:schemeClr>
                    </a:solidFill>
                    <a:ln w="635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just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ru-RU" sz="1100" dirty="0">
                          <a:solidFill>
                            <a:srgbClr val="171717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Мотив 12</a:t>
                      </a:r>
                      <a:endParaRPr lang="ru-RU" sz="1100" dirty="0">
                        <a:effectLst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22" name="Прямоугольник: скругленные углы 21">
                      <a:extLst>
                        <a:ext uri="{FF2B5EF4-FFF2-40B4-BE49-F238E27FC236}">
                          <a16:creationId xmlns:a16="http://schemas.microsoft.com/office/drawing/2014/main" id="{EC959AC0-1CD5-458D-A964-DB662D24B7C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36220" y="982980"/>
                      <a:ext cx="1463040" cy="304800"/>
                    </a:xfrm>
                    <a:prstGeom prst="roundRect">
                      <a:avLst/>
                    </a:prstGeom>
                    <a:solidFill>
                      <a:schemeClr val="accent4">
                        <a:lumMod val="40000"/>
                        <a:lumOff val="60000"/>
                      </a:schemeClr>
                    </a:solidFill>
                    <a:ln w="12700" cap="flat" cmpd="sng" algn="ctr">
                      <a:solidFill>
                        <a:srgbClr val="4472C4">
                          <a:shade val="50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just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ru-RU" sz="1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Мотив 19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p:txBody>
                </p:sp>
                <p:cxnSp>
                  <p:nvCxnSpPr>
                    <p:cNvPr id="23" name="Прямая соединительная линия 22">
                      <a:extLst>
                        <a:ext uri="{FF2B5EF4-FFF2-40B4-BE49-F238E27FC236}">
                          <a16:creationId xmlns:a16="http://schemas.microsoft.com/office/drawing/2014/main" id="{B63C75B6-ED97-43A9-911D-8D978BF104FC}"/>
                        </a:ext>
                      </a:extLst>
                    </p:cNvPr>
                    <p:cNvCxnSpPr/>
                    <p:nvPr/>
                  </p:nvCxnSpPr>
                  <p:spPr>
                    <a:xfrm flipH="1">
                      <a:off x="1680210" y="819150"/>
                      <a:ext cx="2308860" cy="1790700"/>
                    </a:xfrm>
                    <a:prstGeom prst="line">
                      <a:avLst/>
                    </a:prstGeom>
                    <a:ln w="57150">
                      <a:solidFill>
                        <a:srgbClr val="FF000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4" name="Прямая соединительная линия 23">
                      <a:extLst>
                        <a:ext uri="{FF2B5EF4-FFF2-40B4-BE49-F238E27FC236}">
                          <a16:creationId xmlns:a16="http://schemas.microsoft.com/office/drawing/2014/main" id="{3C3ABE61-A619-4DF9-8D78-D53C82C42C9D}"/>
                        </a:ext>
                      </a:extLst>
                    </p:cNvPr>
                    <p:cNvCxnSpPr/>
                    <p:nvPr/>
                  </p:nvCxnSpPr>
                  <p:spPr>
                    <a:xfrm flipH="1" flipV="1">
                      <a:off x="1672590" y="2853690"/>
                      <a:ext cx="2358390" cy="186690"/>
                    </a:xfrm>
                    <a:prstGeom prst="line">
                      <a:avLst/>
                    </a:prstGeom>
                    <a:noFill/>
                    <a:ln w="57150" cap="flat" cmpd="sng" algn="ctr">
                      <a:solidFill>
                        <a:srgbClr val="92D050"/>
                      </a:solidFill>
                      <a:prstDash val="solid"/>
                      <a:miter lim="800000"/>
                    </a:ln>
                    <a:effectLst/>
                  </p:spPr>
                </p:cxnSp>
                <p:cxnSp>
                  <p:nvCxnSpPr>
                    <p:cNvPr id="25" name="Прямая соединительная линия 24">
                      <a:extLst>
                        <a:ext uri="{FF2B5EF4-FFF2-40B4-BE49-F238E27FC236}">
                          <a16:creationId xmlns:a16="http://schemas.microsoft.com/office/drawing/2014/main" id="{5EB03C6C-913D-4FEA-9E27-9A2175B34765}"/>
                        </a:ext>
                      </a:extLst>
                    </p:cNvPr>
                    <p:cNvCxnSpPr/>
                    <p:nvPr/>
                  </p:nvCxnSpPr>
                  <p:spPr>
                    <a:xfrm flipH="1" flipV="1">
                      <a:off x="1588770" y="1276350"/>
                      <a:ext cx="2510790" cy="1649730"/>
                    </a:xfrm>
                    <a:prstGeom prst="line">
                      <a:avLst/>
                    </a:prstGeom>
                    <a:noFill/>
                    <a:ln w="57150" cap="flat" cmpd="sng" algn="ctr">
                      <a:solidFill>
                        <a:srgbClr val="FF0000"/>
                      </a:solidFill>
                      <a:prstDash val="solid"/>
                      <a:miter lim="800000"/>
                    </a:ln>
                    <a:effectLst/>
                  </p:spPr>
                </p:cxnSp>
                <p:cxnSp>
                  <p:nvCxnSpPr>
                    <p:cNvPr id="26" name="Прямая соединительная линия 25">
                      <a:extLst>
                        <a:ext uri="{FF2B5EF4-FFF2-40B4-BE49-F238E27FC236}">
                          <a16:creationId xmlns:a16="http://schemas.microsoft.com/office/drawing/2014/main" id="{4F88D15A-8606-4B35-A49E-1A2ABA3CDBA6}"/>
                        </a:ext>
                      </a:extLst>
                    </p:cNvPr>
                    <p:cNvCxnSpPr/>
                    <p:nvPr/>
                  </p:nvCxnSpPr>
                  <p:spPr>
                    <a:xfrm flipH="1" flipV="1">
                      <a:off x="1680210" y="1146810"/>
                      <a:ext cx="2324100" cy="278130"/>
                    </a:xfrm>
                    <a:prstGeom prst="line">
                      <a:avLst/>
                    </a:prstGeom>
                    <a:noFill/>
                    <a:ln w="57150" cap="flat" cmpd="sng" algn="ctr">
                      <a:solidFill>
                        <a:srgbClr val="FF0000"/>
                      </a:solidFill>
                      <a:prstDash val="solid"/>
                      <a:miter lim="800000"/>
                    </a:ln>
                    <a:effectLst/>
                  </p:spPr>
                </p:cxnSp>
                <p:cxnSp>
                  <p:nvCxnSpPr>
                    <p:cNvPr id="27" name="Прямая соединительная линия 26">
                      <a:extLst>
                        <a:ext uri="{FF2B5EF4-FFF2-40B4-BE49-F238E27FC236}">
                          <a16:creationId xmlns:a16="http://schemas.microsoft.com/office/drawing/2014/main" id="{C660991E-EE67-4990-B8C4-F06FD391ACE2}"/>
                        </a:ext>
                      </a:extLst>
                    </p:cNvPr>
                    <p:cNvCxnSpPr/>
                    <p:nvPr/>
                  </p:nvCxnSpPr>
                  <p:spPr>
                    <a:xfrm flipH="1" flipV="1">
                      <a:off x="1664970" y="1268730"/>
                      <a:ext cx="2339340" cy="918210"/>
                    </a:xfrm>
                    <a:prstGeom prst="line">
                      <a:avLst/>
                    </a:prstGeom>
                    <a:noFill/>
                    <a:ln w="57150" cap="flat" cmpd="sng" algn="ctr">
                      <a:solidFill>
                        <a:srgbClr val="92D050"/>
                      </a:solidFill>
                      <a:prstDash val="solid"/>
                      <a:miter lim="800000"/>
                    </a:ln>
                    <a:effectLst/>
                  </p:spPr>
                </p:cxnSp>
                <p:sp>
                  <p:nvSpPr>
                    <p:cNvPr id="28" name="Надпись 2">
                      <a:extLst>
                        <a:ext uri="{FF2B5EF4-FFF2-40B4-BE49-F238E27FC236}">
                          <a16:creationId xmlns:a16="http://schemas.microsoft.com/office/drawing/2014/main" id="{8FC4F786-1DFC-4714-82F4-D1047558908C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0" y="0"/>
                      <a:ext cx="2086610" cy="51816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 rot="0" vert="horz" wrap="square" lIns="91440" tIns="45720" rIns="91440" bIns="45720" anchor="t" anchorCtr="0">
                      <a:noAutofit/>
                    </a:bodyPr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ru-RU" sz="11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МОТИВ ВЫБОРА ПРОФЕССИИ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29" name="Надпись 1280433546">
                      <a:extLst>
                        <a:ext uri="{FF2B5EF4-FFF2-40B4-BE49-F238E27FC236}">
                          <a16:creationId xmlns:a16="http://schemas.microsoft.com/office/drawing/2014/main" id="{FD2D62B7-0887-47F3-8408-949A53139FD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314700" y="106680"/>
                      <a:ext cx="3230880" cy="3048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w="6350">
                      <a:noFill/>
                    </a:ln>
                  </p:spPr>
                  <p:txBody>
                    <a:bodyPr rot="0" spcFirstLastPara="0" vert="horz" wrap="square" lIns="91440" tIns="45720" rIns="91440" bIns="45720" numCol="1" spcCol="0" rtlCol="0" fromWordArt="0" anchor="t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ru-RU" sz="11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ВОПРОСЫ РОДИТЕЛЯМ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16" name="Надпись 2">
                    <a:extLst>
                      <a:ext uri="{FF2B5EF4-FFF2-40B4-BE49-F238E27FC236}">
                        <a16:creationId xmlns:a16="http://schemas.microsoft.com/office/drawing/2014/main" id="{30730368-3AEE-4F8E-A0B6-D0E1E3925D6A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337560" y="1744980"/>
                    <a:ext cx="2376804" cy="272414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rot="0" vert="horz" wrap="square" lIns="91440" tIns="45720" rIns="91440" bIns="45720" anchor="t" anchorCtr="0">
                    <a:spAutoFit/>
                  </a:bodyPr>
                  <a:lstStyle/>
                  <a:p>
                    <a:pPr algn="just">
                      <a:lnSpc>
                        <a:spcPct val="106000"/>
                      </a:lnSpc>
                      <a:spcAft>
                        <a:spcPts val="800"/>
                      </a:spcAft>
                    </a:pPr>
                    <a:r>
                      <a:rPr lang="ru-RU" sz="11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a:t>0,295*</a:t>
                    </a:r>
                    <a:endParaRPr lang="ru-RU" sz="1100">
                      <a:effectLst/>
                      <a:latin typeface="Calibri" panose="020F0502020204030204" pitchFamily="34" charset="0"/>
                      <a:ea typeface="Calibri" panose="020F0502020204030204" pitchFamily="34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14" name="Надпись 2">
                  <a:extLst>
                    <a:ext uri="{FF2B5EF4-FFF2-40B4-BE49-F238E27FC236}">
                      <a16:creationId xmlns:a16="http://schemas.microsoft.com/office/drawing/2014/main" id="{3C4E8CD0-4AE4-45D5-BE6E-09FCFC821AA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973580" y="942975"/>
                  <a:ext cx="2376804" cy="27241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rot="0" vert="horz" wrap="square" lIns="91440" tIns="45720" rIns="91440" bIns="45720" anchor="t" anchorCtr="0">
                  <a:spAutoFit/>
                </a:bodyPr>
                <a:lstStyle/>
                <a:p>
                  <a:pPr algn="just">
                    <a:lnSpc>
                      <a:spcPct val="106000"/>
                    </a:lnSpc>
                    <a:spcAft>
                      <a:spcPts val="800"/>
                    </a:spcAft>
                  </a:pPr>
                  <a:r>
                    <a:rPr lang="ru-RU" sz="1100" b="1">
                      <a:effectLst/>
                      <a:latin typeface="Times New Roman" panose="020206030504050203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-0,301*</a:t>
                  </a:r>
                  <a:endParaRPr lang="ru-RU" sz="110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</p:grpSp>
        </p:grpSp>
      </p:grpSp>
      <p:sp>
        <p:nvSpPr>
          <p:cNvPr id="2" name="Надпись 2">
            <a:extLst>
              <a:ext uri="{FF2B5EF4-FFF2-40B4-BE49-F238E27FC236}">
                <a16:creationId xmlns:a16="http://schemas.microsoft.com/office/drawing/2014/main" id="{9CFB7C2B-43E8-4BB9-A69E-8E44A004C5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9910" y="2160703"/>
            <a:ext cx="2376488" cy="373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-0,304*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A3CB349E-0C6E-48B4-A1EA-EDBF4BCB4E6E}"/>
              </a:ext>
            </a:extLst>
          </p:cNvPr>
          <p:cNvGrpSpPr/>
          <p:nvPr/>
        </p:nvGrpSpPr>
        <p:grpSpPr>
          <a:xfrm>
            <a:off x="1570355" y="5107044"/>
            <a:ext cx="3239770" cy="646430"/>
            <a:chOff x="0" y="0"/>
            <a:chExt cx="3240404" cy="647064"/>
          </a:xfrm>
        </p:grpSpPr>
        <p:cxnSp>
          <p:nvCxnSpPr>
            <p:cNvPr id="31" name="Прямая соединительная линия 30">
              <a:extLst>
                <a:ext uri="{FF2B5EF4-FFF2-40B4-BE49-F238E27FC236}">
                  <a16:creationId xmlns:a16="http://schemas.microsoft.com/office/drawing/2014/main" id="{9555585F-6920-4B5B-8876-F7164A1CB672}"/>
                </a:ext>
              </a:extLst>
            </p:cNvPr>
            <p:cNvCxnSpPr/>
            <p:nvPr/>
          </p:nvCxnSpPr>
          <p:spPr>
            <a:xfrm>
              <a:off x="0" y="514350"/>
              <a:ext cx="708660" cy="0"/>
            </a:xfrm>
            <a:prstGeom prst="line">
              <a:avLst/>
            </a:prstGeom>
            <a:noFill/>
            <a:ln w="38100" cap="flat" cmpd="sng" algn="ctr">
              <a:solidFill>
                <a:srgbClr val="92D050"/>
              </a:solidFill>
              <a:prstDash val="solid"/>
              <a:miter lim="800000"/>
            </a:ln>
            <a:effectLst/>
          </p:spPr>
        </p:cxnSp>
        <p:sp>
          <p:nvSpPr>
            <p:cNvPr id="32" name="Надпись 2">
              <a:extLst>
                <a:ext uri="{FF2B5EF4-FFF2-40B4-BE49-F238E27FC236}">
                  <a16:creationId xmlns:a16="http://schemas.microsoft.com/office/drawing/2014/main" id="{5EF1BF49-76F2-4816-97CE-3855B46FE8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8680" y="0"/>
              <a:ext cx="2371724" cy="64706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spAutoFit/>
            </a:bodyPr>
            <a:lstStyle/>
            <a:p>
              <a:pPr>
                <a:lnSpc>
                  <a:spcPct val="106000"/>
                </a:lnSpc>
                <a:spcAft>
                  <a:spcPts val="800"/>
                </a:spcAft>
              </a:pPr>
              <a:r>
                <a:rPr lang="ru-RU" sz="11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отрицательные корреляции </a:t>
              </a:r>
              <a:endParaRPr lang="ru-RU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>
                <a:lnSpc>
                  <a:spcPct val="106000"/>
                </a:lnSpc>
                <a:spcAft>
                  <a:spcPts val="800"/>
                </a:spcAft>
              </a:pPr>
              <a:r>
                <a:rPr lang="ru-RU" sz="11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положительные корреляции</a:t>
              </a:r>
              <a:endParaRPr lang="ru-RU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3" name="Прямая соединительная линия 32">
              <a:extLst>
                <a:ext uri="{FF2B5EF4-FFF2-40B4-BE49-F238E27FC236}">
                  <a16:creationId xmlns:a16="http://schemas.microsoft.com/office/drawing/2014/main" id="{E4A98E11-C204-4AA3-840E-9EA518298F1A}"/>
                </a:ext>
              </a:extLst>
            </p:cNvPr>
            <p:cNvCxnSpPr/>
            <p:nvPr/>
          </p:nvCxnSpPr>
          <p:spPr>
            <a:xfrm>
              <a:off x="7620" y="156210"/>
              <a:ext cx="708660" cy="0"/>
            </a:xfrm>
            <a:prstGeom prst="line">
              <a:avLst/>
            </a:prstGeom>
            <a:noFill/>
            <a:ln w="38100" cap="flat" cmpd="sng" algn="ctr">
              <a:solidFill>
                <a:srgbClr val="FF0000"/>
              </a:solidFill>
              <a:prstDash val="solid"/>
              <a:miter lim="800000"/>
            </a:ln>
            <a:effectLst/>
          </p:spPr>
        </p:cxnSp>
      </p:grpSp>
      <p:sp>
        <p:nvSpPr>
          <p:cNvPr id="3" name="Rectangle 28">
            <a:extLst>
              <a:ext uri="{FF2B5EF4-FFF2-40B4-BE49-F238E27FC236}">
                <a16:creationId xmlns:a16="http://schemas.microsoft.com/office/drawing/2014/main" id="{FA4899C5-6431-422F-A6ED-0F29AEF034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4" name="Rectangle 43">
            <a:extLst>
              <a:ext uri="{FF2B5EF4-FFF2-40B4-BE49-F238E27FC236}">
                <a16:creationId xmlns:a16="http://schemas.microsoft.com/office/drawing/2014/main" id="{2D28FFA4-9926-470D-B05E-9F9722B697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54652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A4F66232-8957-4F46-BAE5-30D1D6B520BA}"/>
              </a:ext>
            </a:extLst>
          </p:cNvPr>
          <p:cNvGrpSpPr/>
          <p:nvPr/>
        </p:nvGrpSpPr>
        <p:grpSpPr>
          <a:xfrm>
            <a:off x="395536" y="1355257"/>
            <a:ext cx="8352928" cy="5329769"/>
            <a:chOff x="0" y="0"/>
            <a:chExt cx="6705600" cy="6050802"/>
          </a:xfrm>
        </p:grpSpPr>
        <p:sp>
          <p:nvSpPr>
            <p:cNvPr id="9" name="Надпись 2">
              <a:extLst>
                <a:ext uri="{FF2B5EF4-FFF2-40B4-BE49-F238E27FC236}">
                  <a16:creationId xmlns:a16="http://schemas.microsoft.com/office/drawing/2014/main" id="{72F073E8-4469-43C3-849D-729D67BC15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2086610" cy="797267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100" b="1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ПРОФЕССИОНАЛЬНЫЕ ИНТЕРЕСЫ ПОДРОСТКА</a:t>
              </a:r>
              <a:endParaRPr kumimoji="0" lang="ru-RU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0" name="Группа 9">
              <a:extLst>
                <a:ext uri="{FF2B5EF4-FFF2-40B4-BE49-F238E27FC236}">
                  <a16:creationId xmlns:a16="http://schemas.microsoft.com/office/drawing/2014/main" id="{CE976DC7-9D03-42FC-B9A4-B1F7675A65A0}"/>
                </a:ext>
              </a:extLst>
            </p:cNvPr>
            <p:cNvGrpSpPr/>
            <p:nvPr/>
          </p:nvGrpSpPr>
          <p:grpSpPr>
            <a:xfrm>
              <a:off x="117348" y="83820"/>
              <a:ext cx="6588252" cy="5966982"/>
              <a:chOff x="-118872" y="0"/>
              <a:chExt cx="6588252" cy="5966982"/>
            </a:xfrm>
          </p:grpSpPr>
          <p:sp>
            <p:nvSpPr>
              <p:cNvPr id="11" name="Надпись 1280433553">
                <a:extLst>
                  <a:ext uri="{FF2B5EF4-FFF2-40B4-BE49-F238E27FC236}">
                    <a16:creationId xmlns:a16="http://schemas.microsoft.com/office/drawing/2014/main" id="{E6E961A4-0FB8-4542-A9A5-DDB94630CF03}"/>
                  </a:ext>
                </a:extLst>
              </p:cNvPr>
              <p:cNvSpPr txBox="1"/>
              <p:nvPr/>
            </p:nvSpPr>
            <p:spPr>
              <a:xfrm>
                <a:off x="3238500" y="0"/>
                <a:ext cx="3230880" cy="304800"/>
              </a:xfrm>
              <a:prstGeom prst="rect">
                <a:avLst/>
              </a:prstGeom>
              <a:solidFill>
                <a:sysClr val="window" lastClr="FFFFFF"/>
              </a:solidFill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6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ru-RU" sz="1100" b="1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ВОПРОСЫ РОДИТЕЛЯМ</a:t>
                </a:r>
                <a:endParaRPr kumimoji="0" lang="ru-RU" sz="11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2" name="Группа 11">
                <a:extLst>
                  <a:ext uri="{FF2B5EF4-FFF2-40B4-BE49-F238E27FC236}">
                    <a16:creationId xmlns:a16="http://schemas.microsoft.com/office/drawing/2014/main" id="{435C6CEA-CF99-44E7-A840-954AD5E1F8FF}"/>
                  </a:ext>
                </a:extLst>
              </p:cNvPr>
              <p:cNvGrpSpPr/>
              <p:nvPr/>
            </p:nvGrpSpPr>
            <p:grpSpPr>
              <a:xfrm>
                <a:off x="-118872" y="373380"/>
                <a:ext cx="6304790" cy="5593602"/>
                <a:chOff x="-118872" y="0"/>
                <a:chExt cx="6304790" cy="5593602"/>
              </a:xfrm>
            </p:grpSpPr>
            <p:sp>
              <p:nvSpPr>
                <p:cNvPr id="13" name="Надпись 2">
                  <a:extLst>
                    <a:ext uri="{FF2B5EF4-FFF2-40B4-BE49-F238E27FC236}">
                      <a16:creationId xmlns:a16="http://schemas.microsoft.com/office/drawing/2014/main" id="{10FB1A2A-BBF7-47D0-AF3E-02B58BD140C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651760" y="2148840"/>
                  <a:ext cx="2376170" cy="37528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rot="0" vert="horz" wrap="square" lIns="91440" tIns="45720" rIns="91440" bIns="45720" anchor="t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6000"/>
                    </a:lnSpc>
                    <a:spcBef>
                      <a:spcPts val="0"/>
                    </a:spcBef>
                    <a:spcAft>
                      <a:spcPts val="8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ru-RU" sz="1100" b="1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0,318*</a:t>
                  </a:r>
                  <a:endParaRPr kumimoji="0" lang="ru-RU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14" name="Группа 13">
                  <a:extLst>
                    <a:ext uri="{FF2B5EF4-FFF2-40B4-BE49-F238E27FC236}">
                      <a16:creationId xmlns:a16="http://schemas.microsoft.com/office/drawing/2014/main" id="{C760902A-897D-47B2-A243-045DDD02D117}"/>
                    </a:ext>
                  </a:extLst>
                </p:cNvPr>
                <p:cNvGrpSpPr/>
                <p:nvPr/>
              </p:nvGrpSpPr>
              <p:grpSpPr>
                <a:xfrm>
                  <a:off x="-118872" y="0"/>
                  <a:ext cx="6304790" cy="5593602"/>
                  <a:chOff x="-118872" y="0"/>
                  <a:chExt cx="6304790" cy="5593602"/>
                </a:xfrm>
              </p:grpSpPr>
              <p:grpSp>
                <p:nvGrpSpPr>
                  <p:cNvPr id="15" name="Группа 14">
                    <a:extLst>
                      <a:ext uri="{FF2B5EF4-FFF2-40B4-BE49-F238E27FC236}">
                        <a16:creationId xmlns:a16="http://schemas.microsoft.com/office/drawing/2014/main" id="{5514DD67-5BB5-49F5-B86D-47B72EB9AF46}"/>
                      </a:ext>
                    </a:extLst>
                  </p:cNvPr>
                  <p:cNvGrpSpPr/>
                  <p:nvPr/>
                </p:nvGrpSpPr>
                <p:grpSpPr>
                  <a:xfrm>
                    <a:off x="-118872" y="0"/>
                    <a:ext cx="6304790" cy="5593602"/>
                    <a:chOff x="-118872" y="0"/>
                    <a:chExt cx="6304790" cy="5593602"/>
                  </a:xfrm>
                </p:grpSpPr>
                <p:grpSp>
                  <p:nvGrpSpPr>
                    <p:cNvPr id="17" name="Группа 16">
                      <a:extLst>
                        <a:ext uri="{FF2B5EF4-FFF2-40B4-BE49-F238E27FC236}">
                          <a16:creationId xmlns:a16="http://schemas.microsoft.com/office/drawing/2014/main" id="{BA6F89D0-1A9E-45F6-B634-BE522C0A930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118872" y="0"/>
                      <a:ext cx="6304790" cy="5593602"/>
                      <a:chOff x="-118872" y="0"/>
                      <a:chExt cx="6304790" cy="5593602"/>
                    </a:xfrm>
                  </p:grpSpPr>
                  <p:grpSp>
                    <p:nvGrpSpPr>
                      <p:cNvPr id="19" name="Группа 18">
                        <a:extLst>
                          <a:ext uri="{FF2B5EF4-FFF2-40B4-BE49-F238E27FC236}">
                            <a16:creationId xmlns:a16="http://schemas.microsoft.com/office/drawing/2014/main" id="{5BAA8D25-0CA5-4C1D-9B90-7FA433B3F89D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-118872" y="0"/>
                        <a:ext cx="6304790" cy="5593602"/>
                        <a:chOff x="-118872" y="0"/>
                        <a:chExt cx="6304790" cy="5593602"/>
                      </a:xfrm>
                    </p:grpSpPr>
                    <p:grpSp>
                      <p:nvGrpSpPr>
                        <p:cNvPr id="21" name="Группа 20">
                          <a:extLst>
                            <a:ext uri="{FF2B5EF4-FFF2-40B4-BE49-F238E27FC236}">
                              <a16:creationId xmlns:a16="http://schemas.microsoft.com/office/drawing/2014/main" id="{458FA0AF-9547-4532-B3C4-B052BE42448E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-118872" y="0"/>
                          <a:ext cx="6304790" cy="5593602"/>
                          <a:chOff x="-118872" y="0"/>
                          <a:chExt cx="6304790" cy="5593602"/>
                        </a:xfrm>
                      </p:grpSpPr>
                      <p:cxnSp>
                        <p:nvCxnSpPr>
                          <p:cNvPr id="23" name="Прямая соединительная линия 22">
                            <a:extLst>
                              <a:ext uri="{FF2B5EF4-FFF2-40B4-BE49-F238E27FC236}">
                                <a16:creationId xmlns:a16="http://schemas.microsoft.com/office/drawing/2014/main" id="{442247A3-01D0-490A-8913-95649D811861}"/>
                              </a:ext>
                            </a:extLst>
                          </p:cNvPr>
                          <p:cNvCxnSpPr/>
                          <p:nvPr/>
                        </p:nvCxnSpPr>
                        <p:spPr>
                          <a:xfrm flipH="1" flipV="1">
                            <a:off x="1421130" y="2990850"/>
                            <a:ext cx="2457450" cy="2438400"/>
                          </a:xfrm>
                          <a:prstGeom prst="line">
                            <a:avLst/>
                          </a:prstGeom>
                          <a:noFill/>
                          <a:ln w="57150" cap="flat" cmpd="sng" algn="ctr">
                            <a:solidFill>
                              <a:srgbClr val="FF0000"/>
                            </a:solidFill>
                            <a:prstDash val="solid"/>
                            <a:miter lim="800000"/>
                          </a:ln>
                          <a:effectLst/>
                        </p:spPr>
                      </p:cxnSp>
                      <p:grpSp>
                        <p:nvGrpSpPr>
                          <p:cNvPr id="24" name="Группа 23">
                            <a:extLst>
                              <a:ext uri="{FF2B5EF4-FFF2-40B4-BE49-F238E27FC236}">
                                <a16:creationId xmlns:a16="http://schemas.microsoft.com/office/drawing/2014/main" id="{53E7C952-2B00-44F4-83F6-7889CF70A7B5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-118872" y="0"/>
                            <a:ext cx="6304790" cy="5593602"/>
                            <a:chOff x="-118872" y="0"/>
                            <a:chExt cx="6304790" cy="5593602"/>
                          </a:xfrm>
                        </p:grpSpPr>
                        <p:sp>
                          <p:nvSpPr>
                            <p:cNvPr id="25" name="Надпись 2">
                              <a:extLst>
                                <a:ext uri="{FF2B5EF4-FFF2-40B4-BE49-F238E27FC236}">
                                  <a16:creationId xmlns:a16="http://schemas.microsoft.com/office/drawing/2014/main" id="{50D141C7-BCC3-46BE-A7C2-AA183FFCA904}"/>
                                </a:ext>
                              </a:extLst>
                            </p:cNvPr>
                            <p:cNvSpPr txBox="1">
                              <a:spLocks noChangeArrowheads="1"/>
                            </p:cNvSpPr>
                            <p:nvPr/>
                          </p:nvSpPr>
                          <p:spPr bwMode="auto">
                            <a:xfrm>
                              <a:off x="3223260" y="4541520"/>
                              <a:ext cx="2376170" cy="375285"/>
                            </a:xfrm>
                            <a:prstGeom prst="rect">
                              <a:avLst/>
                            </a:prstGeom>
                            <a:noFill/>
                            <a:ln w="9525">
                              <a:noFill/>
                              <a:miter lim="800000"/>
                              <a:headEnd/>
                              <a:tailEnd/>
                            </a:ln>
                          </p:spPr>
                          <p:txBody>
                            <a:bodyPr rot="0" vert="horz" wrap="square" lIns="91440" tIns="45720" rIns="91440" bIns="45720" anchor="t" anchorCtr="0">
                              <a:noAutofit/>
                            </a:bodyPr>
                            <a:lstStyle/>
                            <a:p>
                              <a:pPr marL="0" marR="0" lvl="0" indent="0" defTabSz="914400" eaLnBrk="1" fontAlgn="auto" latinLnBrk="0" hangingPunct="1">
                                <a:lnSpc>
                                  <a:spcPct val="106000"/>
                                </a:lnSpc>
                                <a:spcBef>
                                  <a:spcPts val="0"/>
                                </a:spcBef>
                                <a:spcAft>
                                  <a:spcPts val="80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r>
                                <a:rPr kumimoji="0" lang="ru-RU" sz="1100" b="1" i="0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effectLst/>
                                  <a:uLnTx/>
                                  <a:uFillTx/>
                                  <a:latin typeface="Times New Roman" panose="020206030504050203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a:t>0,313*</a:t>
                              </a:r>
                              <a:endParaRPr kumimoji="0" lang="ru-RU" sz="1100" b="0" i="0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libri" panose="020F0502020204030204" pitchFamily="34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endParaRPr>
                            </a:p>
                          </p:txBody>
                        </p:sp>
                        <p:grpSp>
                          <p:nvGrpSpPr>
                            <p:cNvPr id="26" name="Группа 25">
                              <a:extLst>
                                <a:ext uri="{FF2B5EF4-FFF2-40B4-BE49-F238E27FC236}">
                                  <a16:creationId xmlns:a16="http://schemas.microsoft.com/office/drawing/2014/main" id="{4BCFE970-EBDC-4825-89C6-944EB8F59374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-118872" y="0"/>
                              <a:ext cx="6304790" cy="5593602"/>
                              <a:chOff x="-118872" y="0"/>
                              <a:chExt cx="6304790" cy="5593602"/>
                            </a:xfrm>
                          </p:grpSpPr>
                          <p:grpSp>
                            <p:nvGrpSpPr>
                              <p:cNvPr id="27" name="Группа 26">
                                <a:extLst>
                                  <a:ext uri="{FF2B5EF4-FFF2-40B4-BE49-F238E27FC236}">
                                    <a16:creationId xmlns:a16="http://schemas.microsoft.com/office/drawing/2014/main" id="{FE6463AA-B7B3-4C7A-A0A4-64CA3C6AC3F6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>
                                <a:off x="-118872" y="0"/>
                                <a:ext cx="6304790" cy="5593602"/>
                                <a:chOff x="-118872" y="0"/>
                                <a:chExt cx="6304790" cy="5593602"/>
                              </a:xfrm>
                            </p:grpSpPr>
                            <p:sp>
                              <p:nvSpPr>
                                <p:cNvPr id="29" name="Надпись 2">
                                  <a:extLst>
                                    <a:ext uri="{FF2B5EF4-FFF2-40B4-BE49-F238E27FC236}">
                                      <a16:creationId xmlns:a16="http://schemas.microsoft.com/office/drawing/2014/main" id="{F8DD513F-9E59-40BC-9A00-876DDF624745}"/>
                                    </a:ext>
                                  </a:extLst>
                                </p:cNvPr>
                                <p:cNvSpPr txBox="1">
                                  <a:spLocks noChangeArrowheads="1"/>
                                </p:cNvSpPr>
                                <p:nvPr/>
                              </p:nvSpPr>
                              <p:spPr bwMode="auto">
                                <a:xfrm>
                                  <a:off x="3192018" y="1818520"/>
                                  <a:ext cx="2376170" cy="375285"/>
                                </a:xfrm>
                                <a:prstGeom prst="rect">
                                  <a:avLst/>
                                </a:prstGeom>
                                <a:noFill/>
                                <a:ln w="9525">
                                  <a:noFill/>
                                  <a:miter lim="800000"/>
                                  <a:headEnd/>
                                  <a:tailEnd/>
                                </a:ln>
                              </p:spPr>
                              <p:txBody>
                                <a:bodyPr rot="0" vert="horz" wrap="square" lIns="91440" tIns="45720" rIns="91440" bIns="45720" anchor="t" anchorCtr="0">
                                  <a:noAutofit/>
                                </a:bodyPr>
                                <a:lstStyle/>
                                <a:p>
                                  <a:pPr marL="0" marR="0" lvl="0" indent="0" defTabSz="914400" eaLnBrk="1" fontAlgn="auto" latinLnBrk="0" hangingPunct="1">
                                    <a:lnSpc>
                                      <a:spcPct val="106000"/>
                                    </a:lnSpc>
                                    <a:spcBef>
                                      <a:spcPts val="0"/>
                                    </a:spcBef>
                                    <a:spcAft>
                                      <a:spcPts val="800"/>
                                    </a:spcAft>
                                    <a:buClrTx/>
                                    <a:buSzTx/>
                                    <a:buFontTx/>
                                    <a:buNone/>
                                    <a:tabLst/>
                                    <a:defRPr/>
                                  </a:pPr>
                                  <a:r>
                                    <a:rPr kumimoji="0" lang="ru-RU" sz="1100" b="1" i="0" u="none" strike="noStrike" kern="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ysClr val="windowText" lastClr="000000"/>
                                      </a:solidFill>
                                      <a:effectLst/>
                                      <a:uLnTx/>
                                      <a:uFillTx/>
                                      <a:latin typeface="Times New Roman" panose="020206030504050203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a:t>-0,482*</a:t>
                                  </a:r>
                                  <a:endParaRPr kumimoji="0" lang="ru-RU" sz="1100" b="0" i="0" u="none" strike="noStrike" kern="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libri" panose="020F0502020204030204" pitchFamily="34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endParaRPr>
                                </a:p>
                              </p:txBody>
                            </p:sp>
                            <p:grpSp>
                              <p:nvGrpSpPr>
                                <p:cNvPr id="30" name="Группа 29">
                                  <a:extLst>
                                    <a:ext uri="{FF2B5EF4-FFF2-40B4-BE49-F238E27FC236}">
                                      <a16:creationId xmlns:a16="http://schemas.microsoft.com/office/drawing/2014/main" id="{CDCF29E9-9999-4C14-A607-E6F1F6539B61}"/>
                                    </a:ext>
                                  </a:extLst>
                                </p:cNvPr>
                                <p:cNvGrpSpPr/>
                                <p:nvPr/>
                              </p:nvGrpSpPr>
                              <p:grpSpPr>
                                <a:xfrm>
                                  <a:off x="-118872" y="0"/>
                                  <a:ext cx="6304790" cy="5593602"/>
                                  <a:chOff x="-118872" y="0"/>
                                  <a:chExt cx="6304790" cy="5593602"/>
                                </a:xfrm>
                              </p:grpSpPr>
                              <p:sp>
                                <p:nvSpPr>
                                  <p:cNvPr id="31" name="Надпись 2">
                                    <a:extLst>
                                      <a:ext uri="{FF2B5EF4-FFF2-40B4-BE49-F238E27FC236}">
                                        <a16:creationId xmlns:a16="http://schemas.microsoft.com/office/drawing/2014/main" id="{99065AF4-9613-4406-B73A-6050E917797A}"/>
                                      </a:ext>
                                    </a:extLst>
                                  </p:cNvPr>
                                  <p:cNvSpPr txBox="1"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3192018" y="1384737"/>
                                    <a:ext cx="2376170" cy="375285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noFill/>
                                    <a:miter lim="800000"/>
                                    <a:headEnd/>
                                    <a:tailEnd/>
                                  </a:ln>
                                </p:spPr>
                                <p:txBody>
                                  <a:bodyPr rot="0" vert="horz" wrap="square" lIns="91440" tIns="45720" rIns="91440" bIns="45720" anchor="t" anchorCtr="0">
                                    <a:noAutofit/>
                                  </a:bodyPr>
                                  <a:lstStyle/>
                                  <a:p>
                                    <a:pPr marL="0" marR="0" lvl="0" indent="0" defTabSz="914400" eaLnBrk="1" fontAlgn="auto" latinLnBrk="0" hangingPunct="1">
                                      <a:lnSpc>
                                        <a:spcPct val="106000"/>
                                      </a:lnSpc>
                                      <a:spcBef>
                                        <a:spcPts val="0"/>
                                      </a:spcBef>
                                      <a:spcAft>
                                        <a:spcPts val="800"/>
                                      </a:spcAft>
                                      <a:buClrTx/>
                                      <a:buSzTx/>
                                      <a:buFontTx/>
                                      <a:buNone/>
                                      <a:tabLst/>
                                      <a:defRPr/>
                                    </a:pPr>
                                    <a:r>
                                      <a:rPr kumimoji="0" lang="ru-RU" sz="1100" b="1" i="0" u="none" strike="noStrike" kern="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Times New Roman" panose="020206030504050203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a:t>0,385*</a:t>
                                    </a:r>
                                    <a:endParaRPr kumimoji="0" lang="ru-RU" sz="1100" b="0" i="0" u="none" strike="noStrike" kern="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ysClr val="windowText" lastClr="000000"/>
                                      </a:solidFill>
                                      <a:effectLst/>
                                      <a:uLnTx/>
                                      <a:uFillTx/>
                                      <a:latin typeface="Calibri" panose="020F0502020204030204" pitchFamily="34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endParaRPr>
                                  </a:p>
                                </p:txBody>
                              </p:sp>
                              <p:grpSp>
                                <p:nvGrpSpPr>
                                  <p:cNvPr id="32" name="Группа 31">
                                    <a:extLst>
                                      <a:ext uri="{FF2B5EF4-FFF2-40B4-BE49-F238E27FC236}">
                                        <a16:creationId xmlns:a16="http://schemas.microsoft.com/office/drawing/2014/main" id="{E1A0E06E-586F-4981-B337-E62BCB657DB6}"/>
                                      </a:ext>
                                    </a:extLst>
                                  </p:cNvPr>
                                  <p:cNvGrpSpPr/>
                                  <p:nvPr/>
                                </p:nvGrpSpPr>
                                <p:grpSpPr>
                                  <a:xfrm>
                                    <a:off x="-118872" y="0"/>
                                    <a:ext cx="6304790" cy="5593602"/>
                                    <a:chOff x="-118872" y="0"/>
                                    <a:chExt cx="6304790" cy="5593602"/>
                                  </a:xfrm>
                                </p:grpSpPr>
                                <p:sp>
                                  <p:nvSpPr>
                                    <p:cNvPr id="33" name="Надпись 2">
                                      <a:extLst>
                                        <a:ext uri="{FF2B5EF4-FFF2-40B4-BE49-F238E27FC236}">
                                          <a16:creationId xmlns:a16="http://schemas.microsoft.com/office/drawing/2014/main" id="{50CACBB3-CC96-42F9-9504-117CF1189753}"/>
                                        </a:ext>
                                      </a:extLst>
                                    </p:cNvPr>
                                    <p:cNvSpPr txBox="1">
                                      <a:spLocks noChangeArrowheads="1"/>
                                    </p:cNvSpPr>
                                    <p:nvPr/>
                                  </p:nvSpPr>
                                  <p:spPr bwMode="auto">
                                    <a:xfrm>
                                      <a:off x="3063240" y="114300"/>
                                      <a:ext cx="2376170" cy="375285"/>
                                    </a:xfrm>
                                    <a:prstGeom prst="rect">
                                      <a:avLst/>
                                    </a:prstGeom>
                                    <a:noFill/>
                                    <a:ln w="9525">
                                      <a:noFill/>
                                      <a:miter lim="800000"/>
                                      <a:headEnd/>
                                      <a:tailEnd/>
                                    </a:ln>
                                  </p:spPr>
                                  <p:txBody>
                                    <a:bodyPr rot="0" vert="horz" wrap="square" lIns="91440" tIns="45720" rIns="91440" bIns="45720" anchor="t" anchorCtr="0">
                                      <a:noAutofit/>
                                    </a:bodyPr>
                                    <a:lstStyle/>
                                    <a:p>
                                      <a:pPr marL="0" marR="0" lvl="0" indent="0" defTabSz="914400" eaLnBrk="1" fontAlgn="auto" latinLnBrk="0" hangingPunct="1">
                                        <a:lnSpc>
                                          <a:spcPct val="106000"/>
                                        </a:lnSpc>
                                        <a:spcBef>
                                          <a:spcPts val="0"/>
                                        </a:spcBef>
                                        <a:spcAft>
                                          <a:spcPts val="800"/>
                                        </a:spcAft>
                                        <a:buClrTx/>
                                        <a:buSzTx/>
                                        <a:buFontTx/>
                                        <a:buNone/>
                                        <a:tabLst/>
                                        <a:defRPr/>
                                      </a:pPr>
                                      <a:r>
                                        <a:rPr kumimoji="0" lang="ru-RU" sz="1100" b="1" i="0" u="none" strike="noStrike" kern="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ysClr val="windowText" lastClr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Times New Roman" panose="020206030504050203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a:t>0,286*</a:t>
                                      </a:r>
                                      <a:endParaRPr kumimoji="0" lang="ru-RU" sz="1100" b="0" i="0" u="none" strike="noStrike" kern="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libri" panose="020F0502020204030204" pitchFamily="34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endParaRPr>
                                    </a:p>
                                  </p:txBody>
                                </p:sp>
                                <p:grpSp>
                                  <p:nvGrpSpPr>
                                    <p:cNvPr id="34" name="Группа 33">
                                      <a:extLst>
                                        <a:ext uri="{FF2B5EF4-FFF2-40B4-BE49-F238E27FC236}">
                                          <a16:creationId xmlns:a16="http://schemas.microsoft.com/office/drawing/2014/main" id="{DC8DFE9D-144A-4657-A03E-F813F59CE2A0}"/>
                                        </a:ext>
                                      </a:extLst>
                                    </p:cNvPr>
                                    <p:cNvGrpSpPr/>
                                    <p:nvPr/>
                                  </p:nvGrpSpPr>
                                  <p:grpSpPr>
                                    <a:xfrm>
                                      <a:off x="-118872" y="0"/>
                                      <a:ext cx="6304790" cy="5593602"/>
                                      <a:chOff x="-118872" y="0"/>
                                      <a:chExt cx="6304790" cy="5593602"/>
                                    </a:xfrm>
                                  </p:grpSpPr>
                                  <p:sp>
                                    <p:nvSpPr>
                                      <p:cNvPr id="35" name="Надпись 2">
                                        <a:extLst>
                                          <a:ext uri="{FF2B5EF4-FFF2-40B4-BE49-F238E27FC236}">
                                            <a16:creationId xmlns:a16="http://schemas.microsoft.com/office/drawing/2014/main" id="{D1CE725D-56ED-4B29-BFC8-03F4BD63C317}"/>
                                          </a:ext>
                                        </a:extLst>
                                      </p:cNvPr>
                                      <p:cNvSpPr txBox="1">
                                        <a:spLocks noChangeArrowheads="1"/>
                                      </p:cNvSpPr>
                                      <p:nvPr/>
                                    </p:nvSpPr>
                                    <p:spPr bwMode="auto">
                                      <a:xfrm>
                                        <a:off x="3131058" y="883129"/>
                                        <a:ext cx="2376170" cy="375285"/>
                                      </a:xfrm>
                                      <a:prstGeom prst="rect">
                                        <a:avLst/>
                                      </a:prstGeom>
                                      <a:noFill/>
                                      <a:ln w="9525">
                                        <a:noFill/>
                                        <a:miter lim="800000"/>
                                        <a:headEnd/>
                                        <a:tailEnd/>
                                      </a:ln>
                                    </p:spPr>
                                    <p:txBody>
                                      <a:bodyPr rot="0" vert="horz" wrap="square" lIns="91440" tIns="45720" rIns="91440" bIns="45720" anchor="t" anchorCtr="0">
                                        <a:noAutofit/>
                                      </a:bodyPr>
                                      <a:lstStyle/>
                                      <a:p>
                                        <a:pPr marL="0" marR="0" lvl="0" indent="0" defTabSz="914400" eaLnBrk="1" fontAlgn="auto" latinLnBrk="0" hangingPunct="1">
                                          <a:lnSpc>
                                            <a:spcPct val="106000"/>
                                          </a:lnSpc>
                                          <a:spcBef>
                                            <a:spcPts val="0"/>
                                          </a:spcBef>
                                          <a:spcAft>
                                            <a:spcPts val="800"/>
                                          </a:spcAft>
                                          <a:buClrTx/>
                                          <a:buSzTx/>
                                          <a:buFontTx/>
                                          <a:buNone/>
                                          <a:tabLst/>
                                          <a:defRPr/>
                                        </a:pPr>
                                        <a:r>
                                          <a:rPr kumimoji="0" lang="ru-RU" sz="1100" b="1" i="0" u="none" strike="noStrike" kern="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sysClr val="windowText" lastClr="000000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Times New Roman" panose="020206030504050203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a:t>-0,440</a:t>
                                        </a:r>
                                        <a:endParaRPr kumimoji="0" lang="ru-RU" sz="1100" b="0" i="0" u="none" strike="noStrike" kern="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ysClr val="windowText" lastClr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libri" panose="020F0502020204030204" pitchFamily="34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endParaRPr>
                                      </a:p>
                                    </p:txBody>
                                  </p:sp>
                                  <p:grpSp>
                                    <p:nvGrpSpPr>
                                      <p:cNvPr id="36" name="Группа 35">
                                        <a:extLst>
                                          <a:ext uri="{FF2B5EF4-FFF2-40B4-BE49-F238E27FC236}">
                                            <a16:creationId xmlns:a16="http://schemas.microsoft.com/office/drawing/2014/main" id="{CAC0E0E8-9645-4B8D-A75D-17319BB51941}"/>
                                          </a:ext>
                                        </a:extLst>
                                      </p:cNvPr>
                                      <p:cNvGrpSpPr/>
                                      <p:nvPr/>
                                    </p:nvGrpSpPr>
                                    <p:grpSpPr>
                                      <a:xfrm>
                                        <a:off x="-118872" y="0"/>
                                        <a:ext cx="6304790" cy="5593602"/>
                                        <a:chOff x="-118872" y="0"/>
                                        <a:chExt cx="6304790" cy="5593602"/>
                                      </a:xfrm>
                                    </p:grpSpPr>
                                    <p:cxnSp>
                                      <p:nvCxnSpPr>
                                        <p:cNvPr id="37" name="Прямая соединительная линия 36">
                                          <a:extLst>
                                            <a:ext uri="{FF2B5EF4-FFF2-40B4-BE49-F238E27FC236}">
                                              <a16:creationId xmlns:a16="http://schemas.microsoft.com/office/drawing/2014/main" id="{C8FF510D-541C-45B3-B479-EE92429A7777}"/>
                                            </a:ext>
                                          </a:extLst>
                                        </p:cNvPr>
                                        <p:cNvCxnSpPr/>
                                        <p:nvPr/>
                                      </p:nvCxnSpPr>
                                      <p:spPr>
                                        <a:xfrm flipH="1" flipV="1">
                                          <a:off x="1261110" y="621030"/>
                                          <a:ext cx="2503170" cy="3371850"/>
                                        </a:xfrm>
                                        <a:prstGeom prst="line">
                                          <a:avLst/>
                                        </a:prstGeom>
                                        <a:noFill/>
                                        <a:ln w="57150" cap="flat" cmpd="sng" algn="ctr">
                                          <a:solidFill>
                                            <a:srgbClr val="92D050"/>
                                          </a:solidFill>
                                          <a:prstDash val="solid"/>
                                          <a:miter lim="800000"/>
                                        </a:ln>
                                        <a:effectLst/>
                                      </p:spPr>
                                    </p:cxnSp>
                                    <p:cxnSp>
                                      <p:nvCxnSpPr>
                                        <p:cNvPr id="38" name="Прямая соединительная линия 37">
                                          <a:extLst>
                                            <a:ext uri="{FF2B5EF4-FFF2-40B4-BE49-F238E27FC236}">
                                              <a16:creationId xmlns:a16="http://schemas.microsoft.com/office/drawing/2014/main" id="{29F4EB5F-0517-4E2F-9DE2-0EA144150CEE}"/>
                                            </a:ext>
                                          </a:extLst>
                                        </p:cNvPr>
                                        <p:cNvCxnSpPr/>
                                        <p:nvPr/>
                                      </p:nvCxnSpPr>
                                      <p:spPr>
                                        <a:xfrm flipH="1" flipV="1">
                                          <a:off x="1238250" y="1139190"/>
                                          <a:ext cx="2708910" cy="3623310"/>
                                        </a:xfrm>
                                        <a:prstGeom prst="line">
                                          <a:avLst/>
                                        </a:prstGeom>
                                        <a:noFill/>
                                        <a:ln w="57150" cap="flat" cmpd="sng" algn="ctr">
                                          <a:solidFill>
                                            <a:srgbClr val="FF0000"/>
                                          </a:solidFill>
                                          <a:prstDash val="solid"/>
                                          <a:miter lim="800000"/>
                                        </a:ln>
                                        <a:effectLst/>
                                      </p:spPr>
                                    </p:cxnSp>
                                    <p:cxnSp>
                                      <p:nvCxnSpPr>
                                        <p:cNvPr id="39" name="Прямая соединительная линия 38">
                                          <a:extLst>
                                            <a:ext uri="{FF2B5EF4-FFF2-40B4-BE49-F238E27FC236}">
                                              <a16:creationId xmlns:a16="http://schemas.microsoft.com/office/drawing/2014/main" id="{AF7C6B7B-D2AD-43AA-BE6E-D8F0939673D0}"/>
                                            </a:ext>
                                          </a:extLst>
                                        </p:cNvPr>
                                        <p:cNvCxnSpPr/>
                                        <p:nvPr/>
                                      </p:nvCxnSpPr>
                                      <p:spPr>
                                        <a:xfrm flipH="1" flipV="1">
                                          <a:off x="1413510" y="1200150"/>
                                          <a:ext cx="2545080" cy="1150620"/>
                                        </a:xfrm>
                                        <a:prstGeom prst="line">
                                          <a:avLst/>
                                        </a:prstGeom>
                                        <a:noFill/>
                                        <a:ln w="57150" cap="flat" cmpd="sng" algn="ctr">
                                          <a:solidFill>
                                            <a:srgbClr val="FF0000"/>
                                          </a:solidFill>
                                          <a:prstDash val="solid"/>
                                          <a:miter lim="800000"/>
                                        </a:ln>
                                        <a:effectLst/>
                                      </p:spPr>
                                    </p:cxnSp>
                                    <p:cxnSp>
                                      <p:nvCxnSpPr>
                                        <p:cNvPr id="40" name="Прямая соединительная линия 39">
                                          <a:extLst>
                                            <a:ext uri="{FF2B5EF4-FFF2-40B4-BE49-F238E27FC236}">
                                              <a16:creationId xmlns:a16="http://schemas.microsoft.com/office/drawing/2014/main" id="{EF1DB3CB-9BFB-4D3C-B6ED-69DDEC873409}"/>
                                            </a:ext>
                                          </a:extLst>
                                        </p:cNvPr>
                                        <p:cNvCxnSpPr/>
                                        <p:nvPr/>
                                      </p:nvCxnSpPr>
                                      <p:spPr>
                                        <a:xfrm flipH="1" flipV="1">
                                          <a:off x="1428750" y="1192530"/>
                                          <a:ext cx="2564130" cy="2305050"/>
                                        </a:xfrm>
                                        <a:prstGeom prst="line">
                                          <a:avLst/>
                                        </a:prstGeom>
                                        <a:noFill/>
                                        <a:ln w="57150" cap="flat" cmpd="sng" algn="ctr">
                                          <a:solidFill>
                                            <a:srgbClr val="92D050"/>
                                          </a:solidFill>
                                          <a:prstDash val="solid"/>
                                          <a:miter lim="800000"/>
                                        </a:ln>
                                        <a:effectLst/>
                                      </p:spPr>
                                    </p:cxnSp>
                                    <p:cxnSp>
                                      <p:nvCxnSpPr>
                                        <p:cNvPr id="41" name="Прямая соединительная линия 40">
                                          <a:extLst>
                                            <a:ext uri="{FF2B5EF4-FFF2-40B4-BE49-F238E27FC236}">
                                              <a16:creationId xmlns:a16="http://schemas.microsoft.com/office/drawing/2014/main" id="{EEFEAD56-8BEA-41AF-A62F-DBBFA6DD4B53}"/>
                                            </a:ext>
                                          </a:extLst>
                                        </p:cNvPr>
                                        <p:cNvCxnSpPr/>
                                        <p:nvPr/>
                                      </p:nvCxnSpPr>
                                      <p:spPr>
                                        <a:xfrm flipH="1" flipV="1">
                                          <a:off x="1352550" y="2388870"/>
                                          <a:ext cx="2411730" cy="2939415"/>
                                        </a:xfrm>
                                        <a:prstGeom prst="line">
                                          <a:avLst/>
                                        </a:prstGeom>
                                        <a:noFill/>
                                        <a:ln w="57150" cap="flat" cmpd="sng" algn="ctr">
                                          <a:solidFill>
                                            <a:srgbClr val="92D050"/>
                                          </a:solidFill>
                                          <a:prstDash val="solid"/>
                                          <a:miter lim="800000"/>
                                        </a:ln>
                                        <a:effectLst/>
                                      </p:spPr>
                                    </p:cxnSp>
                                    <p:cxnSp>
                                      <p:nvCxnSpPr>
                                        <p:cNvPr id="42" name="Прямая соединительная линия 41">
                                          <a:extLst>
                                            <a:ext uri="{FF2B5EF4-FFF2-40B4-BE49-F238E27FC236}">
                                              <a16:creationId xmlns:a16="http://schemas.microsoft.com/office/drawing/2014/main" id="{F87A7C24-9CBF-423A-BE7F-D8EDE567030D}"/>
                                            </a:ext>
                                          </a:extLst>
                                        </p:cNvPr>
                                        <p:cNvCxnSpPr/>
                                        <p:nvPr/>
                                      </p:nvCxnSpPr>
                                      <p:spPr>
                                        <a:xfrm flipH="1">
                                          <a:off x="1329690" y="2419350"/>
                                          <a:ext cx="2796540" cy="556260"/>
                                        </a:xfrm>
                                        <a:prstGeom prst="line">
                                          <a:avLst/>
                                        </a:prstGeom>
                                        <a:noFill/>
                                        <a:ln w="57150" cap="flat" cmpd="sng" algn="ctr">
                                          <a:solidFill>
                                            <a:srgbClr val="92D050"/>
                                          </a:solidFill>
                                          <a:prstDash val="solid"/>
                                          <a:miter lim="800000"/>
                                        </a:ln>
                                        <a:effectLst/>
                                      </p:spPr>
                                    </p:cxnSp>
                                    <p:cxnSp>
                                      <p:nvCxnSpPr>
                                        <p:cNvPr id="43" name="Прямая соединительная линия 42">
                                          <a:extLst>
                                            <a:ext uri="{FF2B5EF4-FFF2-40B4-BE49-F238E27FC236}">
                                              <a16:creationId xmlns:a16="http://schemas.microsoft.com/office/drawing/2014/main" id="{F7ED7527-3BEA-46F6-8ADA-7B6584BB08A0}"/>
                                            </a:ext>
                                          </a:extLst>
                                        </p:cNvPr>
                                        <p:cNvCxnSpPr/>
                                        <p:nvPr/>
                                      </p:nvCxnSpPr>
                                      <p:spPr>
                                        <a:xfrm flipH="1" flipV="1">
                                          <a:off x="1459230" y="1139190"/>
                                          <a:ext cx="2552700" cy="670560"/>
                                        </a:xfrm>
                                        <a:prstGeom prst="line">
                                          <a:avLst/>
                                        </a:prstGeom>
                                        <a:noFill/>
                                        <a:ln w="57150" cap="flat" cmpd="sng" algn="ctr">
                                          <a:solidFill>
                                            <a:srgbClr val="92D050"/>
                                          </a:solidFill>
                                          <a:prstDash val="solid"/>
                                          <a:miter lim="800000"/>
                                        </a:ln>
                                        <a:effectLst/>
                                      </p:spPr>
                                    </p:cxnSp>
                                    <p:cxnSp>
                                      <p:nvCxnSpPr>
                                        <p:cNvPr id="44" name="Прямая соединительная линия 43">
                                          <a:extLst>
                                            <a:ext uri="{FF2B5EF4-FFF2-40B4-BE49-F238E27FC236}">
                                              <a16:creationId xmlns:a16="http://schemas.microsoft.com/office/drawing/2014/main" id="{F2F7F500-D969-4B65-85EA-EC373437BA39}"/>
                                            </a:ext>
                                          </a:extLst>
                                        </p:cNvPr>
                                        <p:cNvCxnSpPr/>
                                        <p:nvPr/>
                                      </p:nvCxnSpPr>
                                      <p:spPr>
                                        <a:xfrm flipH="1" flipV="1">
                                          <a:off x="1466850" y="537210"/>
                                          <a:ext cx="2343150" cy="2366010"/>
                                        </a:xfrm>
                                        <a:prstGeom prst="line">
                                          <a:avLst/>
                                        </a:prstGeom>
                                        <a:noFill/>
                                        <a:ln w="57150" cap="flat" cmpd="sng" algn="ctr">
                                          <a:solidFill>
                                            <a:srgbClr val="92D050"/>
                                          </a:solidFill>
                                          <a:prstDash val="solid"/>
                                          <a:miter lim="800000"/>
                                        </a:ln>
                                        <a:effectLst/>
                                      </p:spPr>
                                    </p:cxnSp>
                                    <p:cxnSp>
                                      <p:nvCxnSpPr>
                                        <p:cNvPr id="45" name="Прямая соединительная линия 44">
                                          <a:extLst>
                                            <a:ext uri="{FF2B5EF4-FFF2-40B4-BE49-F238E27FC236}">
                                              <a16:creationId xmlns:a16="http://schemas.microsoft.com/office/drawing/2014/main" id="{1DEFC60A-4933-4C05-B7D4-FA598E58C817}"/>
                                            </a:ext>
                                          </a:extLst>
                                        </p:cNvPr>
                                        <p:cNvCxnSpPr/>
                                        <p:nvPr/>
                                      </p:nvCxnSpPr>
                                      <p:spPr>
                                        <a:xfrm flipH="1">
                                          <a:off x="1383030" y="1024890"/>
                                          <a:ext cx="2487930" cy="1924050"/>
                                        </a:xfrm>
                                        <a:prstGeom prst="line">
                                          <a:avLst/>
                                        </a:prstGeom>
                                        <a:noFill/>
                                        <a:ln w="57150" cap="flat" cmpd="sng" algn="ctr">
                                          <a:solidFill>
                                            <a:srgbClr val="FF0000"/>
                                          </a:solidFill>
                                          <a:prstDash val="solid"/>
                                          <a:miter lim="800000"/>
                                        </a:ln>
                                        <a:effectLst/>
                                      </p:spPr>
                                    </p:cxnSp>
                                    <p:cxnSp>
                                      <p:nvCxnSpPr>
                                        <p:cNvPr id="46" name="Прямая соединительная линия 45">
                                          <a:extLst>
                                            <a:ext uri="{FF2B5EF4-FFF2-40B4-BE49-F238E27FC236}">
                                              <a16:creationId xmlns:a16="http://schemas.microsoft.com/office/drawing/2014/main" id="{57385465-49DB-48D4-A647-C0CD2005F99D}"/>
                                            </a:ext>
                                          </a:extLst>
                                        </p:cNvPr>
                                        <p:cNvCxnSpPr/>
                                        <p:nvPr/>
                                      </p:nvCxnSpPr>
                                      <p:spPr>
                                        <a:xfrm flipH="1">
                                          <a:off x="1466850" y="422910"/>
                                          <a:ext cx="2442210" cy="41910"/>
                                        </a:xfrm>
                                        <a:prstGeom prst="line">
                                          <a:avLst/>
                                        </a:prstGeom>
                                        <a:noFill/>
                                        <a:ln w="57150" cap="flat" cmpd="sng" algn="ctr">
                                          <a:solidFill>
                                            <a:srgbClr val="92D050"/>
                                          </a:solidFill>
                                          <a:prstDash val="solid"/>
                                          <a:miter lim="800000"/>
                                        </a:ln>
                                        <a:effectLst/>
                                      </p:spPr>
                                    </p:cxnSp>
                                    <p:grpSp>
                                      <p:nvGrpSpPr>
                                        <p:cNvPr id="47" name="Группа 46">
                                          <a:extLst>
                                            <a:ext uri="{FF2B5EF4-FFF2-40B4-BE49-F238E27FC236}">
                                              <a16:creationId xmlns:a16="http://schemas.microsoft.com/office/drawing/2014/main" id="{2680A4B4-0681-45A4-B926-9BF787986379}"/>
                                            </a:ext>
                                          </a:extLst>
                                        </p:cNvPr>
                                        <p:cNvGrpSpPr/>
                                        <p:nvPr/>
                                      </p:nvGrpSpPr>
                                      <p:grpSpPr>
                                        <a:xfrm>
                                          <a:off x="-118872" y="0"/>
                                          <a:ext cx="6304790" cy="5593602"/>
                                          <a:chOff x="-118872" y="0"/>
                                          <a:chExt cx="6304790" cy="5593602"/>
                                        </a:xfrm>
                                      </p:grpSpPr>
                                      <p:sp>
                                        <p:nvSpPr>
                                          <p:cNvPr id="48" name="Прямоугольник: скругленные углы 47">
                                            <a:extLst>
                                              <a:ext uri="{FF2B5EF4-FFF2-40B4-BE49-F238E27FC236}">
                                                <a16:creationId xmlns:a16="http://schemas.microsoft.com/office/drawing/2014/main" id="{6BA15DC7-58DA-4F47-9397-A0F3874400DD}"/>
                                              </a:ext>
                                            </a:extLst>
                                          </p:cNvPr>
                                          <p:cNvSpPr/>
                                          <p:nvPr/>
                                        </p:nvSpPr>
                                        <p:spPr>
                                          <a:xfrm>
                                            <a:off x="3727704" y="1345919"/>
                                            <a:ext cx="2427733" cy="655319"/>
                                          </a:xfrm>
                                          <a:prstGeom prst="roundRect">
                                            <a:avLst/>
                                          </a:prstGeom>
                                          <a:solidFill>
                                            <a:sysClr val="window" lastClr="FFFFFF">
                                              <a:lumMod val="95000"/>
                                            </a:sysClr>
                                          </a:solidFill>
                                          <a:ln w="12700" cap="flat" cmpd="sng" algn="ctr">
                                            <a:solidFill>
                                              <a:srgbClr val="4472C4">
                                                <a:shade val="50000"/>
                                              </a:srgbClr>
                                            </a:solidFill>
                                            <a:prstDash val="solid"/>
                                            <a:miter lim="800000"/>
                                          </a:ln>
                                          <a:effectLst/>
                                        </p:spPr>
                                        <p:txBody>
              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              <a:prstTxWarp prst="textNoShape">
                                              <a:avLst/>
                                            </a:prstTxWarp>
                                            <a:noAutofit/>
                                          </a:bodyPr>
                                          <a:lstStyle/>
                                          <a:p>
                                            <a:pPr marL="0" marR="0" lvl="0" indent="0" defTabSz="914400" eaLnBrk="1" fontAlgn="auto" latinLnBrk="0" hangingPunct="1">
                                              <a:lnSpc>
                                                <a:spcPct val="106000"/>
                                              </a:lnSpc>
                                              <a:spcBef>
                                                <a:spcPts val="0"/>
                                              </a:spcBef>
                                              <a:spcAft>
                                                <a:spcPts val="800"/>
                                              </a:spcAft>
                                              <a:buClrTx/>
                                              <a:buSzTx/>
                                              <a:buFontTx/>
                                              <a:buNone/>
                                              <a:tabLst/>
                                              <a:defRPr/>
                                            </a:pPr>
                                            <a:r>
                                              <a:rPr kumimoji="0" lang="ru-RU" sz="1100" b="0" i="0" u="none" strike="noStrike" kern="0" cap="none" spc="0" normalizeH="0" baseline="0" noProof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rgbClr val="171717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Times New Roman" panose="020206030504050203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  <a:t>12.Я бы хотел(а), чтобы он(а) относился к своим детям также</a:t>
                                            </a:r>
                                            <a:endParaRPr kumimoji="0" lang="ru-RU" sz="1100" b="0" i="0" u="none" strike="noStrike" kern="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ysClr val="window" lastClr="FFFFFF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libri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endParaRPr>
                                          </a:p>
                                        </p:txBody>
                                      </p:sp>
                                      <p:sp>
                                        <p:nvSpPr>
                                          <p:cNvPr id="49" name="Прямоугольник: скругленные углы 48">
                                            <a:extLst>
                                              <a:ext uri="{FF2B5EF4-FFF2-40B4-BE49-F238E27FC236}">
                                                <a16:creationId xmlns:a16="http://schemas.microsoft.com/office/drawing/2014/main" id="{111D5C64-39C0-419E-AE80-98D306440922}"/>
                                              </a:ext>
                                            </a:extLst>
                                          </p:cNvPr>
                                          <p:cNvSpPr/>
                                          <p:nvPr/>
                                        </p:nvSpPr>
                                        <p:spPr>
                                          <a:xfrm>
                                            <a:off x="3727704" y="2074072"/>
                                            <a:ext cx="2449069" cy="550844"/>
                                          </a:xfrm>
                                          <a:prstGeom prst="roundRect">
                                            <a:avLst/>
                                          </a:prstGeom>
                                          <a:solidFill>
                                            <a:sysClr val="window" lastClr="FFFFFF">
                                              <a:lumMod val="95000"/>
                                            </a:sysClr>
                                          </a:solidFill>
                                          <a:ln w="12700" cap="flat" cmpd="sng" algn="ctr">
                                            <a:solidFill>
                                              <a:srgbClr val="4472C4">
                                                <a:shade val="50000"/>
                                              </a:srgbClr>
                                            </a:solidFill>
                                            <a:prstDash val="solid"/>
                                            <a:miter lim="800000"/>
                                          </a:ln>
                                          <a:effectLst/>
                                        </p:spPr>
                                        <p:txBody>
              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              <a:prstTxWarp prst="textNoShape">
                                              <a:avLst/>
                                            </a:prstTxWarp>
                                            <a:noAutofit/>
                                          </a:bodyPr>
                                          <a:lstStyle/>
                                          <a:p>
                                            <a:pPr marL="0" marR="0" lvl="0" indent="0" algn="ctr" defTabSz="914400" eaLnBrk="1" fontAlgn="auto" latinLnBrk="0" hangingPunct="1">
                                              <a:lnSpc>
                                                <a:spcPct val="106000"/>
                                              </a:lnSpc>
                                              <a:spcBef>
                                                <a:spcPts val="0"/>
                                              </a:spcBef>
                                              <a:spcAft>
                                                <a:spcPts val="800"/>
                                              </a:spcAft>
                                              <a:buClrTx/>
                                              <a:buSzTx/>
                                              <a:buFontTx/>
                                              <a:buNone/>
                                              <a:tabLst/>
                                              <a:defRPr/>
                                            </a:pPr>
                                            <a:r>
                                              <a:rPr kumimoji="0" lang="ru-RU" sz="1100" b="0" i="0" u="none" strike="noStrike" kern="0" cap="none" spc="0" normalizeH="0" baseline="0" noProof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ysClr val="windowText" lastClr="000000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Times New Roman" panose="020206030504050203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  <a:t>15. Я стараюсь контролировать все его действия</a:t>
                                            </a:r>
                                            <a:endParaRPr kumimoji="0" lang="ru-RU" sz="1100" b="0" i="0" u="none" strike="noStrike" kern="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ysClr val="windowText" lastClr="000000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libri" panose="020F0502020204030204" pitchFamily="34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endParaRPr>
                                          </a:p>
                                        </p:txBody>
                                      </p:sp>
                                      <p:sp>
                                        <p:nvSpPr>
                                          <p:cNvPr id="50" name="Прямоугольник: скругленные углы 49">
                                            <a:extLst>
                                              <a:ext uri="{FF2B5EF4-FFF2-40B4-BE49-F238E27FC236}">
                                                <a16:creationId xmlns:a16="http://schemas.microsoft.com/office/drawing/2014/main" id="{8B74E7DD-76B1-4FDB-937A-D735CF1A4175}"/>
                                              </a:ext>
                                            </a:extLst>
                                          </p:cNvPr>
                                          <p:cNvSpPr/>
                                          <p:nvPr/>
                                        </p:nvSpPr>
                                        <p:spPr>
                                          <a:xfrm>
                                            <a:off x="3727704" y="2675411"/>
                                            <a:ext cx="2458214" cy="609599"/>
                                          </a:xfrm>
                                          <a:prstGeom prst="roundRect">
                                            <a:avLst/>
                                          </a:prstGeom>
                                          <a:solidFill>
                                            <a:sysClr val="window" lastClr="FFFFFF">
                                              <a:lumMod val="95000"/>
                                            </a:sysClr>
                                          </a:solidFill>
                                          <a:ln w="12700" cap="flat" cmpd="sng" algn="ctr">
                                            <a:solidFill>
                                              <a:srgbClr val="4472C4">
                                                <a:shade val="50000"/>
                                              </a:srgbClr>
                                            </a:solidFill>
                                            <a:prstDash val="solid"/>
                                            <a:miter lim="800000"/>
                                          </a:ln>
                                          <a:effectLst/>
                                        </p:spPr>
                                        <p:txBody>
              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              <a:prstTxWarp prst="textNoShape">
                                              <a:avLst/>
                                            </a:prstTxWarp>
                                            <a:noAutofit/>
                                          </a:bodyPr>
                                          <a:lstStyle/>
                                          <a:p>
                                            <a:pPr marL="0" marR="0" lvl="0" indent="0" algn="ctr" defTabSz="914400" eaLnBrk="1" fontAlgn="auto" latinLnBrk="0" hangingPunct="1">
                                              <a:lnSpc>
                                                <a:spcPct val="106000"/>
                                              </a:lnSpc>
                                              <a:spcBef>
                                                <a:spcPts val="0"/>
                                              </a:spcBef>
                                              <a:spcAft>
                                                <a:spcPts val="800"/>
                                              </a:spcAft>
                                              <a:buClrTx/>
                                              <a:buSzTx/>
                                              <a:buFontTx/>
                                              <a:buNone/>
                                              <a:tabLst/>
                                              <a:defRPr/>
                                            </a:pPr>
                                            <a:r>
                                              <a:rPr kumimoji="0" lang="ru-RU" sz="1100" b="0" i="0" u="none" strike="noStrike" kern="0" cap="none" spc="0" normalizeH="0" baseline="0" noProof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ysClr val="windowText" lastClr="000000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Times New Roman" panose="020206030504050203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  <a:t>22.Мне трудно бывает предсказать свое поведение...</a:t>
                                            </a:r>
                                            <a:endParaRPr kumimoji="0" lang="ru-RU" sz="1100" b="0" i="0" u="none" strike="noStrike" kern="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ysClr val="windowText" lastClr="000000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libri" panose="020F0502020204030204" pitchFamily="34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endParaRPr>
                                          </a:p>
                                        </p:txBody>
                                      </p:sp>
                                      <p:sp>
                                        <p:nvSpPr>
                                          <p:cNvPr id="51" name="Прямоугольник: скругленные углы 50">
                                            <a:extLst>
                                              <a:ext uri="{FF2B5EF4-FFF2-40B4-BE49-F238E27FC236}">
                                                <a16:creationId xmlns:a16="http://schemas.microsoft.com/office/drawing/2014/main" id="{1BC1DA69-CD9B-4373-AC93-560B07104FBD}"/>
                                              </a:ext>
                                            </a:extLst>
                                          </p:cNvPr>
                                          <p:cNvSpPr/>
                                          <p:nvPr/>
                                        </p:nvSpPr>
                                        <p:spPr>
                                          <a:xfrm>
                                            <a:off x="3764280" y="3874894"/>
                                            <a:ext cx="2385058" cy="616793"/>
                                          </a:xfrm>
                                          <a:prstGeom prst="roundRect">
                                            <a:avLst/>
                                          </a:prstGeom>
                                          <a:solidFill>
                                            <a:sysClr val="window" lastClr="FFFFFF">
                                              <a:lumMod val="95000"/>
                                            </a:sysClr>
                                          </a:solidFill>
                                          <a:ln w="12700" cap="flat" cmpd="sng" algn="ctr">
                                            <a:solidFill>
                                              <a:srgbClr val="4472C4">
                                                <a:shade val="50000"/>
                                              </a:srgbClr>
                                            </a:solidFill>
                                            <a:prstDash val="solid"/>
                                            <a:miter lim="800000"/>
                                          </a:ln>
                                          <a:effectLst/>
                                        </p:spPr>
                                        <p:txBody>
              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              <a:prstTxWarp prst="textNoShape">
                                              <a:avLst/>
                                            </a:prstTxWarp>
                                            <a:noAutofit/>
                                          </a:bodyPr>
                                          <a:lstStyle/>
                                          <a:p>
                                            <a:pPr marL="0" marR="0" lvl="0" indent="0" algn="ctr" defTabSz="914400" eaLnBrk="1" fontAlgn="auto" latinLnBrk="0" hangingPunct="1">
                                              <a:lnSpc>
                                                <a:spcPct val="106000"/>
                                              </a:lnSpc>
                                              <a:spcBef>
                                                <a:spcPts val="0"/>
                                              </a:spcBef>
                                              <a:spcAft>
                                                <a:spcPts val="800"/>
                                              </a:spcAft>
                                              <a:buClrTx/>
                                              <a:buSzTx/>
                                              <a:buFontTx/>
                                              <a:buNone/>
                                              <a:tabLst/>
                                              <a:defRPr/>
                                            </a:pPr>
                                            <a:r>
                                              <a:rPr kumimoji="0" lang="ru-RU" sz="1100" b="0" i="0" u="none" strike="noStrike" kern="0" cap="none" spc="0" normalizeH="0" baseline="0" noProof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ysClr val="windowText" lastClr="000000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Times New Roman" panose="020206030504050203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  <a:t>25. Дома у него больше обязанностей, чем…</a:t>
                                            </a:r>
                                            <a:endParaRPr kumimoji="0" lang="ru-RU" sz="1100" b="0" i="0" u="none" strike="noStrike" kern="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ysClr val="windowText" lastClr="000000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libri" panose="020F0502020204030204" pitchFamily="34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endParaRPr>
                                          </a:p>
                                        </p:txBody>
                                      </p:sp>
                                      <p:sp>
                                        <p:nvSpPr>
                                          <p:cNvPr id="52" name="Прямоугольник: скругленные углы 51">
                                            <a:extLst>
                                              <a:ext uri="{FF2B5EF4-FFF2-40B4-BE49-F238E27FC236}">
                                                <a16:creationId xmlns:a16="http://schemas.microsoft.com/office/drawing/2014/main" id="{22B94FF8-1670-468C-AEAF-EBE0A93D3646}"/>
                                              </a:ext>
                                            </a:extLst>
                                          </p:cNvPr>
                                          <p:cNvSpPr/>
                                          <p:nvPr/>
                                        </p:nvSpPr>
                                        <p:spPr>
                                          <a:xfrm>
                                            <a:off x="-93726" y="1554479"/>
                                            <a:ext cx="1579625" cy="370398"/>
                                          </a:xfrm>
                                          <a:prstGeom prst="roundRect">
                                            <a:avLst/>
                                          </a:prstGeom>
                                          <a:solidFill>
                                            <a:srgbClr val="FFC000">
                                              <a:lumMod val="40000"/>
                                              <a:lumOff val="60000"/>
                                            </a:srgbClr>
                                          </a:solidFill>
                                          <a:ln w="12700" cap="flat" cmpd="sng" algn="ctr">
                                            <a:solidFill>
                                              <a:srgbClr val="4472C4">
                                                <a:shade val="50000"/>
                                              </a:srgbClr>
                                            </a:solidFill>
                                            <a:prstDash val="solid"/>
                                            <a:miter lim="800000"/>
                                          </a:ln>
                                          <a:effectLst/>
                                        </p:spPr>
                                        <p:txBody>
              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              <a:prstTxWarp prst="textNoShape">
                                              <a:avLst/>
                                            </a:prstTxWarp>
                                            <a:noAutofit/>
                                          </a:bodyPr>
                                          <a:lstStyle/>
                                          <a:p>
                                            <a:pPr marL="0" marR="0" lvl="0" indent="0" algn="ctr" defTabSz="914400" eaLnBrk="1" fontAlgn="auto" latinLnBrk="0" hangingPunct="1">
                                              <a:lnSpc>
                                                <a:spcPct val="106000"/>
                                              </a:lnSpc>
                                              <a:spcBef>
                                                <a:spcPts val="0"/>
                                              </a:spcBef>
                                              <a:spcAft>
                                                <a:spcPts val="800"/>
                                              </a:spcAft>
                                              <a:buClrTx/>
                                              <a:buSzTx/>
                                              <a:buFontTx/>
                                              <a:buNone/>
                                              <a:tabLst/>
                                              <a:defRPr/>
                                            </a:pPr>
                                            <a:r>
                                              <a:rPr kumimoji="0" lang="ru-RU" sz="1100" b="0" i="0" u="none" strike="noStrike" kern="0" cap="none" spc="0" normalizeH="0" baseline="0" noProof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rgbClr val="171717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Times New Roman" panose="020206030504050203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  <a:t>Исследовательский</a:t>
                                            </a:r>
                                            <a:endParaRPr kumimoji="0" lang="ru-RU" sz="1100" b="0" i="0" u="none" strike="noStrike" kern="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ysClr val="window" lastClr="FFFFFF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libri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endParaRPr>
                                          </a:p>
                                        </p:txBody>
                                      </p:sp>
                                      <p:sp>
                                        <p:nvSpPr>
                                          <p:cNvPr id="53" name="Прямоугольник: скругленные углы 52">
                                            <a:extLst>
                                              <a:ext uri="{FF2B5EF4-FFF2-40B4-BE49-F238E27FC236}">
                                                <a16:creationId xmlns:a16="http://schemas.microsoft.com/office/drawing/2014/main" id="{8F516877-FCA9-4710-ABA7-268970C83286}"/>
                                              </a:ext>
                                            </a:extLst>
                                          </p:cNvPr>
                                          <p:cNvSpPr/>
                                          <p:nvPr/>
                                        </p:nvSpPr>
                                        <p:spPr>
                                          <a:xfrm>
                                            <a:off x="-118872" y="312418"/>
                                            <a:ext cx="1589532" cy="396241"/>
                                          </a:xfrm>
                                          <a:prstGeom prst="roundRect">
                                            <a:avLst/>
                                          </a:prstGeom>
                                          <a:solidFill>
                                            <a:srgbClr val="FFC000">
                                              <a:lumMod val="40000"/>
                                              <a:lumOff val="60000"/>
                                            </a:srgbClr>
                                          </a:solidFill>
                                          <a:ln w="12700" cap="flat" cmpd="sng" algn="ctr">
                                            <a:solidFill>
                                              <a:srgbClr val="4472C4">
                                                <a:shade val="50000"/>
                                              </a:srgbClr>
                                            </a:solidFill>
                                            <a:prstDash val="solid"/>
                                            <a:miter lim="800000"/>
                                          </a:ln>
                                          <a:effectLst/>
                                        </p:spPr>
                                        <p:txBody>
              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              <a:prstTxWarp prst="textNoShape">
                                              <a:avLst/>
                                            </a:prstTxWarp>
                                            <a:noAutofit/>
                                          </a:bodyPr>
                                          <a:lstStyle/>
                                          <a:p>
                                            <a:pPr marL="0" marR="0" lvl="0" indent="0" algn="ctr" defTabSz="914400" eaLnBrk="1" fontAlgn="auto" latinLnBrk="0" hangingPunct="1">
                                              <a:lnSpc>
                                                <a:spcPct val="106000"/>
                                              </a:lnSpc>
                                              <a:spcBef>
                                                <a:spcPts val="0"/>
                                              </a:spcBef>
                                              <a:spcAft>
                                                <a:spcPts val="800"/>
                                              </a:spcAft>
                                              <a:buClrTx/>
                                              <a:buSzTx/>
                                              <a:buFontTx/>
                                              <a:buNone/>
                                              <a:tabLst/>
                                              <a:defRPr/>
                                            </a:pPr>
                                            <a:r>
                                              <a:rPr kumimoji="0" lang="ru-RU" sz="1100" b="0" i="0" u="none" strike="noStrike" kern="0" cap="none" spc="0" normalizeH="0" baseline="0" noProof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ysClr val="windowText" lastClr="000000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Times New Roman" panose="020206030504050203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  <a:t>Реалистичный</a:t>
                                            </a:r>
                                            <a:endParaRPr kumimoji="0" lang="ru-RU" sz="1100" b="0" i="0" u="none" strike="noStrike" kern="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ysClr val="windowText" lastClr="000000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libri" panose="020F0502020204030204" pitchFamily="34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endParaRPr>
                                          </a:p>
                                        </p:txBody>
                                      </p:sp>
                                      <p:sp>
                                        <p:nvSpPr>
                                          <p:cNvPr id="54" name="Прямоугольник: скругленные углы 53">
                                            <a:extLst>
                                              <a:ext uri="{FF2B5EF4-FFF2-40B4-BE49-F238E27FC236}">
                                                <a16:creationId xmlns:a16="http://schemas.microsoft.com/office/drawing/2014/main" id="{373C128B-AE4C-44B8-B05E-232B2B03F424}"/>
                                              </a:ext>
                                            </a:extLst>
                                          </p:cNvPr>
                                          <p:cNvSpPr/>
                                          <p:nvPr/>
                                        </p:nvSpPr>
                                        <p:spPr>
                                          <a:xfrm>
                                            <a:off x="-93726" y="937259"/>
                                            <a:ext cx="1579625" cy="375083"/>
                                          </a:xfrm>
                                          <a:prstGeom prst="roundRect">
                                            <a:avLst/>
                                          </a:prstGeom>
                                          <a:solidFill>
                                            <a:srgbClr val="FFC000">
                                              <a:lumMod val="40000"/>
                                              <a:lumOff val="60000"/>
                                            </a:srgbClr>
                                          </a:solidFill>
                                          <a:ln w="12700" cap="flat" cmpd="sng" algn="ctr">
                                            <a:solidFill>
                                              <a:srgbClr val="4472C4">
                                                <a:shade val="50000"/>
                                              </a:srgbClr>
                                            </a:solidFill>
                                            <a:prstDash val="solid"/>
                                            <a:miter lim="800000"/>
                                          </a:ln>
                                          <a:effectLst/>
                                        </p:spPr>
                                        <p:txBody>
              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              <a:prstTxWarp prst="textNoShape">
                                              <a:avLst/>
                                            </a:prstTxWarp>
                                            <a:noAutofit/>
                                          </a:bodyPr>
                                          <a:lstStyle/>
                                          <a:p>
                                            <a:pPr marL="0" marR="0" lvl="0" indent="0" algn="ctr" defTabSz="914400" eaLnBrk="1" fontAlgn="auto" latinLnBrk="0" hangingPunct="1">
                                              <a:lnSpc>
                                                <a:spcPct val="106000"/>
                                              </a:lnSpc>
                                              <a:spcBef>
                                                <a:spcPts val="0"/>
                                              </a:spcBef>
                                              <a:spcAft>
                                                <a:spcPts val="800"/>
                                              </a:spcAft>
                                              <a:buClrTx/>
                                              <a:buSzTx/>
                                              <a:buFontTx/>
                                              <a:buNone/>
                                              <a:tabLst/>
                                              <a:defRPr/>
                                            </a:pPr>
                                            <a:r>
                                              <a:rPr kumimoji="0" lang="ru-RU" sz="1100" b="0" i="0" u="none" strike="noStrike" kern="0" cap="none" spc="0" normalizeH="0" baseline="0" noProof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rgbClr val="171717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Times New Roman" panose="020206030504050203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  <a:t>Артистический</a:t>
                                            </a:r>
                                            <a:endParaRPr kumimoji="0" lang="ru-RU" sz="1100" b="0" i="0" u="none" strike="noStrike" kern="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ysClr val="windowText" lastClr="000000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libri" panose="020F0502020204030204" pitchFamily="34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endParaRPr>
                                          </a:p>
                                        </p:txBody>
                                      </p:sp>
                                      <p:sp>
                                        <p:nvSpPr>
                                          <p:cNvPr id="55" name="Прямоугольник: скругленные углы 54">
                                            <a:extLst>
                                              <a:ext uri="{FF2B5EF4-FFF2-40B4-BE49-F238E27FC236}">
                                                <a16:creationId xmlns:a16="http://schemas.microsoft.com/office/drawing/2014/main" id="{0E2C61BE-13B0-4270-BEAA-2954F2DB7189}"/>
                                              </a:ext>
                                            </a:extLst>
                                          </p:cNvPr>
                                          <p:cNvSpPr/>
                                          <p:nvPr/>
                                        </p:nvSpPr>
                                        <p:spPr>
                                          <a:xfrm>
                                            <a:off x="-110490" y="2141221"/>
                                            <a:ext cx="1573530" cy="312420"/>
                                          </a:xfrm>
                                          <a:prstGeom prst="roundRect">
                                            <a:avLst/>
                                          </a:prstGeom>
                                          <a:solidFill>
                                            <a:srgbClr val="FFC000">
                                              <a:lumMod val="40000"/>
                                              <a:lumOff val="60000"/>
                                            </a:srgbClr>
                                          </a:solidFill>
                                          <a:ln w="12700" cap="flat" cmpd="sng" algn="ctr">
                                            <a:solidFill>
                                              <a:srgbClr val="4472C4">
                                                <a:shade val="50000"/>
                                              </a:srgbClr>
                                            </a:solidFill>
                                            <a:prstDash val="solid"/>
                                            <a:miter lim="800000"/>
                                          </a:ln>
                                          <a:effectLst/>
                                        </p:spPr>
                                        <p:txBody>
              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              <a:prstTxWarp prst="textNoShape">
                                              <a:avLst/>
                                            </a:prstTxWarp>
                                            <a:noAutofit/>
                                          </a:bodyPr>
                                          <a:lstStyle/>
                                          <a:p>
                                            <a:pPr marL="0" marR="0" lvl="0" indent="0" algn="ctr" defTabSz="914400" eaLnBrk="1" fontAlgn="auto" latinLnBrk="0" hangingPunct="1">
                                              <a:lnSpc>
                                                <a:spcPct val="106000"/>
                                              </a:lnSpc>
                                              <a:spcBef>
                                                <a:spcPts val="0"/>
                                              </a:spcBef>
                                              <a:spcAft>
                                                <a:spcPts val="800"/>
                                              </a:spcAft>
                                              <a:buClrTx/>
                                              <a:buSzTx/>
                                              <a:buFontTx/>
                                              <a:buNone/>
                                              <a:tabLst/>
                                              <a:defRPr/>
                                            </a:pPr>
                                            <a:r>
                                              <a:rPr kumimoji="0" lang="ru-RU" sz="1100" b="0" i="0" u="none" strike="noStrike" kern="0" cap="none" spc="0" normalizeH="0" baseline="0" noProof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rgbClr val="171717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Times New Roman" panose="020206030504050203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  <a:t>Социальный</a:t>
                                            </a:r>
                                            <a:endParaRPr kumimoji="0" lang="ru-RU" sz="1100" b="0" i="0" u="none" strike="noStrike" kern="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ysClr val="windowText" lastClr="000000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libri" panose="020F0502020204030204" pitchFamily="34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endParaRPr>
                                          </a:p>
                                        </p:txBody>
                                      </p:sp>
                                      <p:sp>
                                        <p:nvSpPr>
                                          <p:cNvPr id="56" name="Прямоугольник: скругленные углы 55">
                                            <a:extLst>
                                              <a:ext uri="{FF2B5EF4-FFF2-40B4-BE49-F238E27FC236}">
                                                <a16:creationId xmlns:a16="http://schemas.microsoft.com/office/drawing/2014/main" id="{96E7A953-C54C-45CD-8A19-06FA0718EC58}"/>
                                              </a:ext>
                                            </a:extLst>
                                          </p:cNvPr>
                                          <p:cNvSpPr/>
                                          <p:nvPr/>
                                        </p:nvSpPr>
                                        <p:spPr>
                                          <a:xfrm>
                                            <a:off x="-93726" y="2712720"/>
                                            <a:ext cx="1572006" cy="388612"/>
                                          </a:xfrm>
                                          <a:prstGeom prst="roundRect">
                                            <a:avLst/>
                                          </a:prstGeom>
                                          <a:solidFill>
                                            <a:srgbClr val="FFC000">
                                              <a:lumMod val="40000"/>
                                              <a:lumOff val="60000"/>
                                            </a:srgbClr>
                                          </a:solidFill>
                                          <a:ln w="12700" cap="flat" cmpd="sng" algn="ctr">
                                            <a:solidFill>
                                              <a:srgbClr val="4472C4">
                                                <a:shade val="50000"/>
                                              </a:srgbClr>
                                            </a:solidFill>
                                            <a:prstDash val="solid"/>
                                            <a:miter lim="800000"/>
                                          </a:ln>
                                          <a:effectLst/>
                                        </p:spPr>
                                        <p:txBody>
              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              <a:prstTxWarp prst="textNoShape">
                                              <a:avLst/>
                                            </a:prstTxWarp>
                                            <a:noAutofit/>
                                          </a:bodyPr>
                                          <a:lstStyle/>
                                          <a:p>
                                            <a:pPr marL="0" marR="0" lvl="0" indent="0" algn="ctr" defTabSz="914400" eaLnBrk="1" fontAlgn="auto" latinLnBrk="0" hangingPunct="1">
                                              <a:lnSpc>
                                                <a:spcPct val="106000"/>
                                              </a:lnSpc>
                                              <a:spcBef>
                                                <a:spcPts val="0"/>
                                              </a:spcBef>
                                              <a:spcAft>
                                                <a:spcPts val="800"/>
                                              </a:spcAft>
                                              <a:buClrTx/>
                                              <a:buSzTx/>
                                              <a:buFontTx/>
                                              <a:buNone/>
                                              <a:tabLst/>
                                              <a:defRPr/>
                                            </a:pPr>
                                            <a:r>
                                              <a:rPr kumimoji="0" lang="ru-RU" sz="1100" b="0" i="0" u="none" strike="noStrike" kern="0" cap="none" spc="0" normalizeH="0" baseline="0" noProof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rgbClr val="171717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Times New Roman" panose="020206030504050203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  <a:t>Предприимчивый</a:t>
                                            </a:r>
                                            <a:endParaRPr kumimoji="0" lang="ru-RU" sz="1100" b="0" i="0" u="none" strike="noStrike" kern="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ysClr val="windowText" lastClr="000000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libri" panose="020F0502020204030204" pitchFamily="34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endParaRPr>
                                          </a:p>
                                        </p:txBody>
                                      </p:sp>
                                      <p:sp>
                                        <p:nvSpPr>
                                          <p:cNvPr id="57" name="Прямоугольник: скругленные углы 56">
                                            <a:extLst>
                                              <a:ext uri="{FF2B5EF4-FFF2-40B4-BE49-F238E27FC236}">
                                                <a16:creationId xmlns:a16="http://schemas.microsoft.com/office/drawing/2014/main" id="{C10E4C05-537F-4775-A853-BA94F2060A91}"/>
                                              </a:ext>
                                            </a:extLst>
                                          </p:cNvPr>
                                          <p:cNvSpPr/>
                                          <p:nvPr/>
                                        </p:nvSpPr>
                                        <p:spPr>
                                          <a:xfrm>
                                            <a:off x="-76961" y="3307080"/>
                                            <a:ext cx="1562861" cy="445678"/>
                                          </a:xfrm>
                                          <a:prstGeom prst="roundRect">
                                            <a:avLst/>
                                          </a:prstGeom>
                                          <a:solidFill>
                                            <a:srgbClr val="FFC000">
                                              <a:lumMod val="40000"/>
                                              <a:lumOff val="60000"/>
                                            </a:srgbClr>
                                          </a:solidFill>
                                          <a:ln w="12700" cap="flat" cmpd="sng" algn="ctr">
                                            <a:solidFill>
                                              <a:srgbClr val="4472C4">
                                                <a:shade val="50000"/>
                                              </a:srgbClr>
                                            </a:solidFill>
                                            <a:prstDash val="solid"/>
                                            <a:miter lim="800000"/>
                                          </a:ln>
                                          <a:effectLst/>
                                        </p:spPr>
                                        <p:txBody>
              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              <a:prstTxWarp prst="textNoShape">
                                              <a:avLst/>
                                            </a:prstTxWarp>
                                            <a:noAutofit/>
                                          </a:bodyPr>
                                          <a:lstStyle/>
                                          <a:p>
                                            <a:pPr marL="0" marR="0" lvl="0" indent="0" algn="ctr" defTabSz="914400" eaLnBrk="1" fontAlgn="auto" latinLnBrk="0" hangingPunct="1">
                                              <a:lnSpc>
                                                <a:spcPct val="106000"/>
                                              </a:lnSpc>
                                              <a:spcBef>
                                                <a:spcPts val="0"/>
                                              </a:spcBef>
                                              <a:spcAft>
                                                <a:spcPts val="800"/>
                                              </a:spcAft>
                                              <a:buClrTx/>
                                              <a:buSzTx/>
                                              <a:buFontTx/>
                                              <a:buNone/>
                                              <a:tabLst/>
                                              <a:defRPr/>
                                            </a:pPr>
                                            <a:r>
                                              <a:rPr kumimoji="0" lang="ru-RU" sz="1100" b="0" i="0" u="none" strike="noStrike" kern="0" cap="none" spc="0" normalizeH="0" baseline="0" noProof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rgbClr val="171717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Times New Roman" panose="020206030504050203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  <a:t>Конвенциональный</a:t>
                                            </a:r>
                                            <a:endParaRPr kumimoji="0" lang="ru-RU" sz="1100" b="0" i="0" u="none" strike="noStrike" kern="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ysClr val="windowText" lastClr="000000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libri" panose="020F0502020204030204" pitchFamily="34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endParaRPr>
                                          </a:p>
                                        </p:txBody>
                                      </p:sp>
                                      <p:sp>
                                        <p:nvSpPr>
                                          <p:cNvPr id="58" name="Прямоугольник: скругленные углы 57">
                                            <a:extLst>
                                              <a:ext uri="{FF2B5EF4-FFF2-40B4-BE49-F238E27FC236}">
                                                <a16:creationId xmlns:a16="http://schemas.microsoft.com/office/drawing/2014/main" id="{2F9BC764-C2CB-4BDF-93A2-19016004933E}"/>
                                              </a:ext>
                                            </a:extLst>
                                          </p:cNvPr>
                                          <p:cNvSpPr/>
                                          <p:nvPr/>
                                        </p:nvSpPr>
                                        <p:spPr>
                                          <a:xfrm>
                                            <a:off x="3749041" y="708659"/>
                                            <a:ext cx="2435352" cy="579121"/>
                                          </a:xfrm>
                                          <a:prstGeom prst="roundRect">
                                            <a:avLst/>
                                          </a:prstGeom>
                                          <a:solidFill>
                                            <a:sysClr val="window" lastClr="FFFFFF">
                                              <a:lumMod val="95000"/>
                                            </a:sysClr>
                                          </a:solidFill>
                                          <a:ln w="12700" cap="flat" cmpd="sng" algn="ctr">
                                            <a:solidFill>
                                              <a:srgbClr val="4472C4">
                                                <a:shade val="50000"/>
                                              </a:srgbClr>
                                            </a:solidFill>
                                            <a:prstDash val="solid"/>
                                            <a:miter lim="800000"/>
                                          </a:ln>
                                          <a:effectLst/>
                                        </p:spPr>
                                        <p:txBody>
              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              <a:prstTxWarp prst="textNoShape">
                                              <a:avLst/>
                                            </a:prstTxWarp>
                                            <a:noAutofit/>
                                          </a:bodyPr>
                                          <a:lstStyle/>
                                          <a:p>
                                            <a:pPr marL="0" marR="0" lvl="0" indent="0" defTabSz="914400" eaLnBrk="1" fontAlgn="auto" latinLnBrk="0" hangingPunct="1">
                                              <a:lnSpc>
                                                <a:spcPct val="106000"/>
                                              </a:lnSpc>
                                              <a:spcBef>
                                                <a:spcPts val="0"/>
                                              </a:spcBef>
                                              <a:spcAft>
                                                <a:spcPts val="800"/>
                                              </a:spcAft>
                                              <a:buClrTx/>
                                              <a:buSzTx/>
                                              <a:buFontTx/>
                                              <a:buNone/>
                                              <a:tabLst/>
                                              <a:defRPr/>
                                            </a:pPr>
                                            <a:r>
                                              <a:rPr kumimoji="0" lang="ru-RU" sz="1100" b="0" i="0" u="none" strike="noStrike" kern="0" cap="none" spc="0" normalizeH="0" baseline="0" noProof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rgbClr val="171717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Times New Roman" panose="020206030504050203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  <a:t>11. Ребенок всегда учитывает мою точку зрения</a:t>
                                            </a:r>
                                            <a:endParaRPr kumimoji="0" lang="ru-RU" sz="1100" b="0" i="0" u="none" strike="noStrike" kern="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ysClr val="windowText" lastClr="000000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libri" panose="020F0502020204030204" pitchFamily="34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endParaRPr>
                                          </a:p>
                                        </p:txBody>
                                      </p:sp>
                                      <p:sp>
                                        <p:nvSpPr>
                                          <p:cNvPr id="59" name="Прямоугольник: скругленные углы 58">
                                            <a:extLst>
                                              <a:ext uri="{FF2B5EF4-FFF2-40B4-BE49-F238E27FC236}">
                                                <a16:creationId xmlns:a16="http://schemas.microsoft.com/office/drawing/2014/main" id="{3A6EBCB2-6167-408D-85AB-9F68C9449357}"/>
                                              </a:ext>
                                            </a:extLst>
                                          </p:cNvPr>
                                          <p:cNvSpPr/>
                                          <p:nvPr/>
                                        </p:nvSpPr>
                                        <p:spPr>
                                          <a:xfrm>
                                            <a:off x="3794761" y="4595182"/>
                                            <a:ext cx="2360676" cy="464820"/>
                                          </a:xfrm>
                                          <a:prstGeom prst="roundRect">
                                            <a:avLst/>
                                          </a:prstGeom>
                                          <a:solidFill>
                                            <a:sysClr val="window" lastClr="FFFFFF">
                                              <a:lumMod val="95000"/>
                                            </a:sysClr>
                                          </a:solidFill>
                                          <a:ln w="12700" cap="flat" cmpd="sng" algn="ctr">
                                            <a:solidFill>
                                              <a:srgbClr val="4472C4">
                                                <a:shade val="50000"/>
                                              </a:srgbClr>
                                            </a:solidFill>
                                            <a:prstDash val="solid"/>
                                            <a:miter lim="800000"/>
                                          </a:ln>
                                          <a:effectLst/>
                                        </p:spPr>
                                        <p:txBody>
              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              <a:prstTxWarp prst="textNoShape">
                                              <a:avLst/>
                                            </a:prstTxWarp>
                                            <a:noAutofit/>
                                          </a:bodyPr>
                                          <a:lstStyle/>
                                          <a:p>
                                            <a:pPr marL="0" marR="0" lvl="0" indent="0" algn="ctr" defTabSz="914400" eaLnBrk="1" fontAlgn="auto" latinLnBrk="0" hangingPunct="1">
                                              <a:lnSpc>
                                                <a:spcPct val="106000"/>
                                              </a:lnSpc>
                                              <a:spcBef>
                                                <a:spcPts val="0"/>
                                              </a:spcBef>
                                              <a:spcAft>
                                                <a:spcPts val="800"/>
                                              </a:spcAft>
                                              <a:buClrTx/>
                                              <a:buSzTx/>
                                              <a:buFontTx/>
                                              <a:buNone/>
                                              <a:tabLst/>
                                              <a:defRPr/>
                                            </a:pPr>
                                            <a:r>
                                              <a:rPr kumimoji="0" lang="ru-RU" sz="1100" b="0" i="0" u="none" strike="noStrike" kern="0" cap="none" spc="0" normalizeH="0" baseline="0" noProof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ysClr val="windowText" lastClr="000000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Times New Roman" panose="020206030504050203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  <a:t>33. Я всегда соглашаюсь с его/ее идеями и предложениями</a:t>
                                            </a:r>
                                            <a:endParaRPr kumimoji="0" lang="ru-RU" sz="1100" b="0" i="0" u="none" strike="noStrike" kern="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ysClr val="windowText" lastClr="000000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libri" panose="020F0502020204030204" pitchFamily="34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endParaRPr>
                                          </a:p>
                                        </p:txBody>
                                      </p:sp>
                                      <p:sp>
                                        <p:nvSpPr>
                                          <p:cNvPr id="60" name="Прямоугольник: скругленные углы 59">
                                            <a:extLst>
                                              <a:ext uri="{FF2B5EF4-FFF2-40B4-BE49-F238E27FC236}">
                                                <a16:creationId xmlns:a16="http://schemas.microsoft.com/office/drawing/2014/main" id="{FB88E5DB-467C-4587-A63E-100EDE2CF737}"/>
                                              </a:ext>
                                            </a:extLst>
                                          </p:cNvPr>
                                          <p:cNvSpPr/>
                                          <p:nvPr/>
                                        </p:nvSpPr>
                                        <p:spPr>
                                          <a:xfrm>
                                            <a:off x="3778758" y="5128783"/>
                                            <a:ext cx="2388868" cy="464819"/>
                                          </a:xfrm>
                                          <a:prstGeom prst="roundRect">
                                            <a:avLst/>
                                          </a:prstGeom>
                                          <a:solidFill>
                                            <a:sysClr val="window" lastClr="FFFFFF">
                                              <a:lumMod val="95000"/>
                                            </a:sysClr>
                                          </a:solidFill>
                                          <a:ln w="12700" cap="flat" cmpd="sng" algn="ctr">
                                            <a:solidFill>
                                              <a:srgbClr val="4472C4">
                                                <a:shade val="50000"/>
                                              </a:srgbClr>
                                            </a:solidFill>
                                            <a:prstDash val="solid"/>
                                            <a:miter lim="800000"/>
                                          </a:ln>
                                          <a:effectLst/>
                                        </p:spPr>
                                        <p:txBody>
              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              <a:prstTxWarp prst="textNoShape">
                                              <a:avLst/>
                                            </a:prstTxWarp>
                                            <a:noAutofit/>
                                          </a:bodyPr>
                                          <a:lstStyle/>
                                          <a:p>
                                            <a:pPr marL="0" marR="0" lvl="0" indent="0" algn="ctr" defTabSz="914400" eaLnBrk="1" fontAlgn="auto" latinLnBrk="0" hangingPunct="1">
                                              <a:lnSpc>
                                                <a:spcPct val="106000"/>
                                              </a:lnSpc>
                                              <a:spcBef>
                                                <a:spcPts val="0"/>
                                              </a:spcBef>
                                              <a:spcAft>
                                                <a:spcPts val="800"/>
                                              </a:spcAft>
                                              <a:buClrTx/>
                                              <a:buSzTx/>
                                              <a:buFontTx/>
                                              <a:buNone/>
                                              <a:tabLst/>
                                              <a:defRPr/>
                                            </a:pPr>
                                            <a:r>
                                              <a:rPr kumimoji="0" lang="ru-RU" sz="1100" b="0" i="0" u="none" strike="noStrike" kern="0" cap="none" spc="0" normalizeH="0" baseline="0" noProof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ysClr val="windowText" lastClr="000000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Times New Roman" panose="020206030504050203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  <a:t>35. Я являюсь для него/нее эталоном и примером</a:t>
                                            </a:r>
                                            <a:endParaRPr kumimoji="0" lang="ru-RU" sz="1100" b="0" i="0" u="none" strike="noStrike" kern="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ysClr val="windowText" lastClr="000000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libri" panose="020F0502020204030204" pitchFamily="34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endParaRPr>
                                          </a:p>
                                        </p:txBody>
                                      </p:sp>
                                      <p:sp>
                                        <p:nvSpPr>
                                          <p:cNvPr id="61" name="Прямоугольник: скругленные углы 60">
                                            <a:extLst>
                                              <a:ext uri="{FF2B5EF4-FFF2-40B4-BE49-F238E27FC236}">
                                                <a16:creationId xmlns:a16="http://schemas.microsoft.com/office/drawing/2014/main" id="{F530C6DC-8A35-4134-9168-231212DB34A9}"/>
                                              </a:ext>
                                            </a:extLst>
                                          </p:cNvPr>
                                          <p:cNvSpPr/>
                                          <p:nvPr/>
                                        </p:nvSpPr>
                                        <p:spPr>
                                          <a:xfrm>
                                            <a:off x="3749041" y="0"/>
                                            <a:ext cx="2435352" cy="621029"/>
                                          </a:xfrm>
                                          <a:prstGeom prst="roundRect">
                                            <a:avLst/>
                                          </a:prstGeom>
                                          <a:solidFill>
                                            <a:sysClr val="window" lastClr="FFFFFF">
                                              <a:lumMod val="95000"/>
                                            </a:sysClr>
                                          </a:solidFill>
                                          <a:ln w="12700" cap="flat" cmpd="sng" algn="ctr">
                                            <a:solidFill>
                                              <a:srgbClr val="4472C4">
                                                <a:shade val="50000"/>
                                              </a:srgbClr>
                                            </a:solidFill>
                                            <a:prstDash val="solid"/>
                                            <a:miter lim="800000"/>
                                          </a:ln>
                                          <a:effectLst/>
                                        </p:spPr>
                                        <p:txBody>
              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              <a:prstTxWarp prst="textNoShape">
                                              <a:avLst/>
                                            </a:prstTxWarp>
                                            <a:noAutofit/>
                                          </a:bodyPr>
                                          <a:lstStyle/>
                                          <a:p>
                                            <a:pPr marL="0" marR="0" lvl="0" indent="0" defTabSz="914400" eaLnBrk="1" fontAlgn="auto" latinLnBrk="0" hangingPunct="1">
                                              <a:lnSpc>
                                                <a:spcPct val="106000"/>
                                              </a:lnSpc>
                                              <a:spcBef>
                                                <a:spcPts val="0"/>
                                              </a:spcBef>
                                              <a:spcAft>
                                                <a:spcPts val="800"/>
                                              </a:spcAft>
                                              <a:buClrTx/>
                                              <a:buSzTx/>
                                              <a:buFontTx/>
                                              <a:buNone/>
                                              <a:tabLst/>
                                              <a:defRPr/>
                                            </a:pPr>
                                            <a:r>
                                              <a:rPr kumimoji="0" lang="ru-RU" sz="1100" b="0" i="0" u="none" strike="noStrike" kern="0" cap="none" spc="0" normalizeH="0" baseline="0" noProof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ysClr val="windowText" lastClr="000000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Times New Roman" panose="020206030504050203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  <a:t>6. Думаю, что он(а) ничего не добьется в жизни</a:t>
                                            </a:r>
                                            <a:endParaRPr kumimoji="0" lang="ru-RU" sz="1100" b="0" i="0" u="none" strike="noStrike" kern="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ysClr val="windowText" lastClr="000000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libri" panose="020F0502020204030204" pitchFamily="34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endParaRPr>
                                          </a:p>
                                        </p:txBody>
                                      </p:sp>
                                      <p:sp>
                                        <p:nvSpPr>
                                          <p:cNvPr id="62" name="Прямоугольник: скругленные углы 61">
                                            <a:extLst>
                                              <a:ext uri="{FF2B5EF4-FFF2-40B4-BE49-F238E27FC236}">
                                                <a16:creationId xmlns:a16="http://schemas.microsoft.com/office/drawing/2014/main" id="{C9FF0FA8-65A5-43A8-90D2-2FD644B85A80}"/>
                                              </a:ext>
                                            </a:extLst>
                                          </p:cNvPr>
                                          <p:cNvSpPr/>
                                          <p:nvPr/>
                                        </p:nvSpPr>
                                        <p:spPr>
                                          <a:xfrm>
                                            <a:off x="3767331" y="3359109"/>
                                            <a:ext cx="2418587" cy="464820"/>
                                          </a:xfrm>
                                          <a:prstGeom prst="roundRect">
                                            <a:avLst/>
                                          </a:prstGeom>
                                          <a:solidFill>
                                            <a:sysClr val="window" lastClr="FFFFFF">
                                              <a:lumMod val="95000"/>
                                            </a:sysClr>
                                          </a:solidFill>
                                          <a:ln w="12700" cap="flat" cmpd="sng" algn="ctr">
                                            <a:solidFill>
                                              <a:srgbClr val="4472C4">
                                                <a:shade val="50000"/>
                                              </a:srgbClr>
                                            </a:solidFill>
                                            <a:prstDash val="solid"/>
                                            <a:miter lim="800000"/>
                                          </a:ln>
                                          <a:effectLst/>
                                        </p:spPr>
                                        <p:txBody>
              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              <a:prstTxWarp prst="textNoShape">
                                              <a:avLst/>
                                            </a:prstTxWarp>
                                            <a:noAutofit/>
                                          </a:bodyPr>
                                          <a:lstStyle/>
                                          <a:p>
                                            <a:pPr marL="0" marR="0" lvl="0" indent="0" algn="ctr" defTabSz="914400" eaLnBrk="1" fontAlgn="auto" latinLnBrk="0" hangingPunct="1">
                                              <a:lnSpc>
                                                <a:spcPct val="106000"/>
                                              </a:lnSpc>
                                              <a:spcBef>
                                                <a:spcPts val="0"/>
                                              </a:spcBef>
                                              <a:spcAft>
                                                <a:spcPts val="800"/>
                                              </a:spcAft>
                                              <a:buClrTx/>
                                              <a:buSzTx/>
                                              <a:buFontTx/>
                                              <a:buNone/>
                                              <a:tabLst/>
                                              <a:defRPr/>
                                            </a:pPr>
                                            <a:r>
                                              <a:rPr kumimoji="0" lang="ru-RU" sz="1100" b="0" i="0" u="none" strike="noStrike" kern="0" cap="none" spc="0" normalizeH="0" baseline="0" noProof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ysClr val="windowText" lastClr="000000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Times New Roman" panose="020206030504050203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  <a:t>24. Мне нравятся наши с ним отношения</a:t>
                                            </a:r>
                                            <a:endParaRPr kumimoji="0" lang="ru-RU" sz="1100" b="0" i="0" u="none" strike="noStrike" kern="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ysClr val="windowText" lastClr="000000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libri" panose="020F0502020204030204" pitchFamily="34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endParaRPr>
                                          </a:p>
                                        </p:txBody>
                                      </p:sp>
                                    </p:grpSp>
                                  </p:grpSp>
                                </p:grpSp>
                              </p:grpSp>
                            </p:grpSp>
                          </p:grpSp>
                          <p:sp>
                            <p:nvSpPr>
                              <p:cNvPr id="28" name="Надпись 2">
                                <a:extLst>
                                  <a:ext uri="{FF2B5EF4-FFF2-40B4-BE49-F238E27FC236}">
                                    <a16:creationId xmlns:a16="http://schemas.microsoft.com/office/drawing/2014/main" id="{4B4AB30F-6049-419F-A1CB-A1F684CBADE5}"/>
                                  </a:ext>
                                </a:extLst>
                              </p:cNvPr>
                              <p:cNvSpPr txBox="1">
                                <a:spLocks noChangeArrowheads="1"/>
                              </p:cNvSpPr>
                              <p:nvPr/>
                            </p:nvSpPr>
                            <p:spPr bwMode="auto">
                              <a:xfrm>
                                <a:off x="1912620" y="2766060"/>
                                <a:ext cx="2376170" cy="375285"/>
                              </a:xfrm>
                              <a:prstGeom prst="rect">
                                <a:avLst/>
                              </a:prstGeom>
                              <a:noFill/>
                              <a:ln w="9525">
                                <a:noFill/>
                                <a:miter lim="800000"/>
                                <a:headEnd/>
                                <a:tailEnd/>
                              </a:ln>
                            </p:spPr>
                            <p:txBody>
                              <a:bodyPr rot="0" vert="horz" wrap="square" lIns="91440" tIns="45720" rIns="91440" bIns="45720" anchor="t" anchorCtr="0">
                                <a:noAutofit/>
                              </a:bodyPr>
                              <a:lstStyle/>
                              <a:p>
                                <a:pPr marL="0" marR="0" lvl="0" indent="0" defTabSz="914400" eaLnBrk="1" fontAlgn="auto" latinLnBrk="0" hangingPunct="1">
                                  <a:lnSpc>
                                    <a:spcPct val="106000"/>
                                  </a:lnSpc>
                                  <a:spcBef>
                                    <a:spcPts val="0"/>
                                  </a:spcBef>
                                  <a:spcAft>
                                    <a:spcPts val="800"/>
                                  </a:spcAft>
                                  <a:buClrTx/>
                                  <a:buSzTx/>
                                  <a:buFontTx/>
                                  <a:buNone/>
                                  <a:tabLst/>
                                  <a:defRPr/>
                                </a:pPr>
                                <a:r>
                                  <a:rPr kumimoji="0" lang="ru-RU" sz="1100" b="1" i="0" u="none" strike="noStrike" kern="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Times New Roman" panose="020206030504050203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a:t>0,508*</a:t>
                                </a:r>
                                <a:endParaRPr kumimoji="0" lang="ru-RU" sz="1100" b="0" i="0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effectLst/>
                                  <a:uLnTx/>
                                  <a:uFillTx/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endParaRPr>
                              </a:p>
                            </p:txBody>
                          </p:sp>
                        </p:grpSp>
                      </p:grpSp>
                    </p:grpSp>
                    <p:sp>
                      <p:nvSpPr>
                        <p:cNvPr id="22" name="Надпись 2">
                          <a:extLst>
                            <a:ext uri="{FF2B5EF4-FFF2-40B4-BE49-F238E27FC236}">
                              <a16:creationId xmlns:a16="http://schemas.microsoft.com/office/drawing/2014/main" id="{1AA0045F-C127-4E34-82DA-F3EFCB5E90C0}"/>
                            </a:ext>
                          </a:extLst>
                        </p:cNvPr>
                        <p:cNvSpPr txBox="1"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644140" y="3550920"/>
                          <a:ext cx="2376170" cy="37528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  <a:miter lim="800000"/>
                          <a:headEnd/>
                          <a:tailEnd/>
                        </a:ln>
                      </p:spPr>
                      <p:txBody>
                        <a:bodyPr rot="0" vert="horz" wrap="square" lIns="91440" tIns="45720" rIns="91440" bIns="45720" anchor="t" anchorCtr="0">
                          <a:noAutofit/>
                        </a:bodyPr>
                        <a:lstStyle/>
                        <a:p>
                          <a:pPr marL="0" marR="0" lvl="0" indent="0" defTabSz="914400" eaLnBrk="1" fontAlgn="auto" latinLnBrk="0" hangingPunct="1">
                            <a:lnSpc>
                              <a:spcPct val="106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ru-RU" sz="1100" b="1" i="0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-0,290*</a:t>
                          </a:r>
                          <a:endParaRPr kumimoji="0" lang="ru-RU" sz="1100" b="0" i="0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p:txBody>
                    </p:sp>
                  </p:grpSp>
                  <p:sp>
                    <p:nvSpPr>
                      <p:cNvPr id="20" name="Надпись 2">
                        <a:extLst>
                          <a:ext uri="{FF2B5EF4-FFF2-40B4-BE49-F238E27FC236}">
                            <a16:creationId xmlns:a16="http://schemas.microsoft.com/office/drawing/2014/main" id="{1DD05692-399E-4281-83F7-79A6F69FB29E}"/>
                          </a:ext>
                        </a:extLst>
                      </p:cNvPr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1874520" y="708660"/>
                        <a:ext cx="2376170" cy="37528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 lim="800000"/>
                        <a:headEnd/>
                        <a:tailEnd/>
                      </a:ln>
                    </p:spPr>
                    <p:txBody>
                      <a:bodyPr rot="0" vert="horz" wrap="square" lIns="91440" tIns="45720" rIns="91440" bIns="45720" anchor="t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6000"/>
                          </a:lnSpc>
                          <a:spcBef>
                            <a:spcPts val="0"/>
                          </a:spcBef>
                          <a:spcAft>
                            <a:spcPts val="80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ru-RU" sz="1100" b="1" i="0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a:t>0,308*</a:t>
                        </a:r>
                        <a:endParaRPr kumimoji="0" lang="ru-RU" sz="11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endParaRPr>
                      </a:p>
                    </p:txBody>
                  </p:sp>
                </p:grpSp>
                <p:sp>
                  <p:nvSpPr>
                    <p:cNvPr id="18" name="Надпись 2">
                      <a:extLst>
                        <a:ext uri="{FF2B5EF4-FFF2-40B4-BE49-F238E27FC236}">
                          <a16:creationId xmlns:a16="http://schemas.microsoft.com/office/drawing/2014/main" id="{9DBE05A3-7B65-4D10-97A0-7329ECAD86B0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179320" y="4297680"/>
                      <a:ext cx="2376170" cy="375285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 rot="0" vert="horz" wrap="square" lIns="91440" tIns="45720" rIns="91440" bIns="45720" anchor="t" anchorCtr="0">
                      <a:noAutofit/>
                    </a:bodyPr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1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-0,354*</a:t>
                      </a:r>
                      <a:endParaRPr kumimoji="0" lang="ru-RU" sz="11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16" name="Надпись 2">
                    <a:extLst>
                      <a:ext uri="{FF2B5EF4-FFF2-40B4-BE49-F238E27FC236}">
                        <a16:creationId xmlns:a16="http://schemas.microsoft.com/office/drawing/2014/main" id="{27703A4A-47B9-4830-B9A6-BE400B640B7F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238500" y="3246121"/>
                    <a:ext cx="2376170" cy="375285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rot="0" vert="horz" wrap="square" lIns="91440" tIns="45720" rIns="91440" bIns="45720" anchor="t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6000"/>
                      </a:lnSpc>
                      <a:spcBef>
                        <a:spcPts val="0"/>
                      </a:spcBef>
                      <a:spcAft>
                        <a:spcPts val="8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ru-RU" sz="1100" b="1" i="0" u="none" strike="noStrike" kern="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a:t>0,377*</a:t>
                    </a:r>
                    <a:endParaRPr kumimoji="0" lang="ru-RU" sz="11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libri" panose="020F0502020204030204" pitchFamily="34" charset="0"/>
                      <a:cs typeface="Times New Roman" panose="02020603050405020304" pitchFamily="18" charset="0"/>
                    </a:endParaRPr>
                  </a:p>
                </p:txBody>
              </p:sp>
            </p:grpSp>
          </p:grpSp>
        </p:grpSp>
      </p:grpSp>
      <p:pic>
        <p:nvPicPr>
          <p:cNvPr id="5" name="Picture 2" descr="C:\Users\v.pospelov\Desktop\лого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528427"/>
            <a:ext cx="2380837" cy="679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13"/>
          <p:cNvSpPr>
            <a:spLocks noChangeArrowheads="1"/>
          </p:cNvSpPr>
          <p:nvPr/>
        </p:nvSpPr>
        <p:spPr bwMode="auto">
          <a:xfrm>
            <a:off x="2843808" y="320230"/>
            <a:ext cx="5616624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indent="449263" algn="ctr" eaLnBrk="1" hangingPunct="1"/>
            <a:r>
              <a:rPr lang="ru-RU" altLang="ru-RU" sz="1600" b="1" dirty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Результаты по методике </a:t>
            </a:r>
            <a:r>
              <a:rPr lang="ru-RU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профессиональных предпочтений Дж. </a:t>
            </a:r>
            <a:r>
              <a:rPr lang="ru-RU" sz="16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Голланда</a:t>
            </a:r>
            <a:r>
              <a:rPr lang="ru-RU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в модификации Г.В. </a:t>
            </a:r>
            <a:r>
              <a:rPr lang="ru-RU" sz="16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Резапкиной</a:t>
            </a:r>
            <a:r>
              <a:rPr lang="ru-RU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[10] и ВРР Марковской) </a:t>
            </a:r>
            <a:endParaRPr lang="ru-RU" altLang="ru-RU" sz="1600" b="1" dirty="0"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55466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v.pospelov\Desktop\птт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58" y="0"/>
            <a:ext cx="912744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C:\Users\v.pospelov\Desktop\лого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528427"/>
            <a:ext cx="2380837" cy="679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13"/>
          <p:cNvSpPr>
            <a:spLocks noChangeArrowheads="1"/>
          </p:cNvSpPr>
          <p:nvPr/>
        </p:nvSpPr>
        <p:spPr bwMode="auto">
          <a:xfrm>
            <a:off x="2920389" y="202115"/>
            <a:ext cx="5711732" cy="14835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indent="449263" algn="ctr"/>
            <a:r>
              <a:rPr lang="ru-RU" altLang="ru-RU" sz="1600" b="1" u="sng" dirty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Результаты по методике </a:t>
            </a:r>
            <a:r>
              <a:rPr lang="ru-RU" sz="1600" b="1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мотивов выбора профессии Р.В. </a:t>
            </a:r>
            <a:r>
              <a:rPr lang="ru-RU" sz="1600" b="1" u="sng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Овчаровой</a:t>
            </a:r>
            <a:r>
              <a:rPr lang="ru-RU" sz="1600" b="1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[43] и методикой профессиональных предпочтений Дж. </a:t>
            </a:r>
            <a:r>
              <a:rPr lang="ru-RU" sz="1600" b="1" u="sng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Голланда</a:t>
            </a:r>
            <a:r>
              <a:rPr lang="ru-RU" sz="1600" b="1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в модификации Г.В. </a:t>
            </a:r>
            <a:r>
              <a:rPr lang="ru-RU" sz="1600" b="1" u="sng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Резапкиной</a:t>
            </a:r>
            <a:r>
              <a:rPr lang="ru-RU" sz="1600" b="1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[10]</a:t>
            </a:r>
            <a:endParaRPr lang="ru-RU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49263" algn="ctr" eaLnBrk="1" hangingPunct="1">
              <a:lnSpc>
                <a:spcPct val="150000"/>
              </a:lnSpc>
            </a:pPr>
            <a:endParaRPr lang="ru-RU" altLang="ru-RU" sz="2000" b="1" dirty="0"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13B59DA-93FD-4C83-AE7C-BAD8FEE2E5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476" y="1394702"/>
            <a:ext cx="7193899" cy="478788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628952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v.pospelov\Desktop\лого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528427"/>
            <a:ext cx="2380837" cy="679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1"/>
          <p:cNvSpPr>
            <a:spLocks noChangeArrowheads="1"/>
          </p:cNvSpPr>
          <p:nvPr/>
        </p:nvSpPr>
        <p:spPr bwMode="auto">
          <a:xfrm>
            <a:off x="323529" y="2060848"/>
            <a:ext cx="8136904" cy="69817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indent="449263" algn="just" eaLnBrk="1" hangingPunct="1">
              <a:lnSpc>
                <a:spcPct val="150000"/>
              </a:lnSpc>
            </a:pPr>
            <a:r>
              <a:rPr lang="ru-RU" altLang="ru-RU" sz="2400" b="1" dirty="0">
                <a:latin typeface="Times New Roman" pitchFamily="18" charset="0"/>
                <a:cs typeface="Times New Roman" pitchFamily="18" charset="0"/>
              </a:rPr>
              <a:t>Обсуждение результатов</a:t>
            </a:r>
          </a:p>
          <a:p>
            <a:pPr marL="342900" indent="-342900" algn="just" eaLnBrk="1" hangingPunct="1">
              <a:buAutoNum type="arabicPeriod"/>
            </a:pPr>
            <a:r>
              <a:rPr lang="ru-RU" altLang="ru-RU" sz="1600" dirty="0">
                <a:latin typeface="Times New Roman" pitchFamily="18" charset="0"/>
                <a:cs typeface="Times New Roman" pitchFamily="18" charset="0"/>
              </a:rPr>
              <a:t>Чем выше контроль, тем выше интерес к лидерским/организационным траекториям. </a:t>
            </a:r>
          </a:p>
          <a:p>
            <a:pPr algn="just" eaLnBrk="1" hangingPunct="1"/>
            <a:r>
              <a:rPr lang="ru-RU" altLang="ru-RU" sz="1600" dirty="0">
                <a:latin typeface="Times New Roman" pitchFamily="18" charset="0"/>
                <a:cs typeface="Times New Roman" pitchFamily="18" charset="0"/>
              </a:rPr>
              <a:t>                                                но ниже интерес к творческим и автономным направлениям</a:t>
            </a:r>
          </a:p>
          <a:p>
            <a:pPr marL="342900" indent="-342900" algn="just" eaLnBrk="1" hangingPunct="1">
              <a:buAutoNum type="arabicPeriod"/>
            </a:pPr>
            <a:r>
              <a:rPr lang="ru-RU" altLang="ru-RU" sz="1600" dirty="0">
                <a:latin typeface="Times New Roman" pitchFamily="18" charset="0"/>
                <a:cs typeface="Times New Roman" pitchFamily="18" charset="0"/>
              </a:rPr>
              <a:t>Постоянное согласование с родителем сопряжено с меньшей ориентацией на самостоятельное лидерство</a:t>
            </a:r>
          </a:p>
          <a:p>
            <a:pPr marL="342900" indent="-342900" algn="just">
              <a:buFontTx/>
              <a:buAutoNum type="arabicPeriod"/>
            </a:pPr>
            <a:r>
              <a:rPr lang="ru-RU" altLang="ru-RU" sz="1600" dirty="0">
                <a:latin typeface="Times New Roman" pitchFamily="18" charset="0"/>
                <a:cs typeface="Times New Roman" pitchFamily="18" charset="0"/>
              </a:rPr>
              <a:t>Установка на </a:t>
            </a:r>
            <a:r>
              <a:rPr lang="ru-RU" altLang="ru-RU" sz="1600" dirty="0" err="1">
                <a:latin typeface="Times New Roman" pitchFamily="18" charset="0"/>
                <a:cs typeface="Times New Roman" pitchFamily="18" charset="0"/>
              </a:rPr>
              <a:t>межпоколенческую</a:t>
            </a:r>
            <a:r>
              <a:rPr lang="ru-RU" altLang="ru-RU" sz="1600" dirty="0">
                <a:latin typeface="Times New Roman" pitchFamily="18" charset="0"/>
                <a:cs typeface="Times New Roman" pitchFamily="18" charset="0"/>
              </a:rPr>
              <a:t> преемственность  и благоприятный эмоциональный фон связаны с большей творческой направленностью подростка.</a:t>
            </a:r>
          </a:p>
          <a:p>
            <a:pPr marL="342900" indent="-342900" algn="just" eaLnBrk="1" hangingPunct="1">
              <a:buAutoNum type="arabicPeriod"/>
            </a:pPr>
            <a:r>
              <a:rPr lang="ru-RU" altLang="ru-RU" sz="1600" dirty="0">
                <a:latin typeface="Times New Roman" pitchFamily="18" charset="0"/>
                <a:cs typeface="Times New Roman" pitchFamily="18" charset="0"/>
              </a:rPr>
              <a:t>Бытовая ответственность связана с интересом к практико-ориентированным сферам</a:t>
            </a:r>
          </a:p>
          <a:p>
            <a:pPr marL="342900" indent="-342900" algn="just" eaLnBrk="1" hangingPunct="1">
              <a:buAutoNum type="arabicPeriod"/>
            </a:pPr>
            <a:r>
              <a:rPr lang="ru-RU" altLang="ru-RU" sz="1600" dirty="0">
                <a:latin typeface="Times New Roman" pitchFamily="18" charset="0"/>
                <a:cs typeface="Times New Roman" pitchFamily="18" charset="0"/>
              </a:rPr>
              <a:t>Вертикальная позиция родителя может снижать ориентацию на автономное лидерство</a:t>
            </a:r>
          </a:p>
          <a:p>
            <a:pPr marL="342900" indent="-342900" algn="just" eaLnBrk="1" hangingPunct="1">
              <a:buAutoNum type="arabicPeriod"/>
            </a:pPr>
            <a:r>
              <a:rPr lang="ru-RU" altLang="ru-RU" sz="1600" dirty="0">
                <a:latin typeface="Times New Roman" pitchFamily="18" charset="0"/>
                <a:cs typeface="Times New Roman" pitchFamily="18" charset="0"/>
              </a:rPr>
              <a:t>Идентификация с родителем может усиливать интерес к помогающим профессиям. </a:t>
            </a:r>
          </a:p>
          <a:p>
            <a:pPr marL="342900" indent="-342900" algn="just" eaLnBrk="1" hangingPunct="1">
              <a:buAutoNum type="arabicPeriod"/>
            </a:pPr>
            <a:r>
              <a:rPr lang="ru-RU" altLang="ru-RU" sz="1600" dirty="0">
                <a:latin typeface="Times New Roman" pitchFamily="18" charset="0"/>
                <a:cs typeface="Times New Roman" pitchFamily="18" charset="0"/>
              </a:rPr>
              <a:t>Возможна компенсаторная ориентация на более «понятные», структурированные сферы</a:t>
            </a:r>
          </a:p>
          <a:p>
            <a:pPr marL="342900" indent="-342900" algn="just" eaLnBrk="1" hangingPunct="1">
              <a:buAutoNum type="arabicPeriod"/>
            </a:pPr>
            <a:r>
              <a:rPr lang="ru-RU" altLang="ru-RU" sz="1600" dirty="0">
                <a:latin typeface="Times New Roman" pitchFamily="18" charset="0"/>
                <a:cs typeface="Times New Roman" pitchFamily="18" charset="0"/>
              </a:rPr>
              <a:t>Не только контроль, но и крайность «полного согласия» неблагоприятна </a:t>
            </a:r>
          </a:p>
          <a:p>
            <a:pPr marL="342900" indent="-342900" algn="just" eaLnBrk="1" hangingPunct="1">
              <a:buAutoNum type="arabicPeriod"/>
            </a:pPr>
            <a:r>
              <a:rPr lang="ru-RU" altLang="ru-RU" sz="1600" dirty="0">
                <a:latin typeface="Times New Roman" pitchFamily="18" charset="0"/>
                <a:cs typeface="Times New Roman" pitchFamily="18" charset="0"/>
              </a:rPr>
              <a:t>При низкой вере родителя в успех подросток чаще тяготеет к конкретным и проверяемым траекториям.</a:t>
            </a:r>
          </a:p>
          <a:p>
            <a:pPr indent="449263" algn="just" eaLnBrk="1" hangingPunct="1"/>
            <a:endParaRPr lang="ru-RU" altLang="ru-RU" sz="1600" b="1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indent="449263" algn="just" eaLnBrk="1" hangingPunct="1"/>
            <a:endParaRPr lang="ru-RU" altLang="ru-RU" sz="2000" b="1" dirty="0">
              <a:latin typeface="Times New Roman" pitchFamily="18" charset="0"/>
              <a:cs typeface="Times New Roman" pitchFamily="18" charset="0"/>
            </a:endParaRPr>
          </a:p>
          <a:p>
            <a:pPr indent="449263" algn="just" eaLnBrk="1" hangingPunct="1"/>
            <a:endParaRPr lang="ru-RU" altLang="ru-RU" sz="2000" b="1" dirty="0">
              <a:latin typeface="Times New Roman" pitchFamily="18" charset="0"/>
              <a:cs typeface="Times New Roman" pitchFamily="18" charset="0"/>
            </a:endParaRPr>
          </a:p>
          <a:p>
            <a:pPr indent="449263" algn="just" eaLnBrk="1" hangingPunct="1"/>
            <a:endParaRPr lang="ru-RU" altLang="ru-RU" sz="2000" b="1" dirty="0">
              <a:latin typeface="Times New Roman" pitchFamily="18" charset="0"/>
              <a:cs typeface="Times New Roman" pitchFamily="18" charset="0"/>
            </a:endParaRPr>
          </a:p>
          <a:p>
            <a:pPr indent="449263" algn="just" eaLnBrk="1" hangingPunct="1"/>
            <a:endParaRPr lang="ru-RU" altLang="ru-RU" sz="2000" b="1" dirty="0">
              <a:latin typeface="Times New Roman" pitchFamily="18" charset="0"/>
              <a:cs typeface="Times New Roman" pitchFamily="18" charset="0"/>
            </a:endParaRPr>
          </a:p>
          <a:p>
            <a:pPr indent="449263" algn="just" eaLnBrk="1" hangingPunct="1">
              <a:lnSpc>
                <a:spcPct val="150000"/>
              </a:lnSpc>
            </a:pPr>
            <a:endParaRPr lang="ru-RU" altLang="ru-RU" sz="2000" b="1" dirty="0">
              <a:latin typeface="Times New Roman" pitchFamily="18" charset="0"/>
              <a:cs typeface="Times New Roman" pitchFamily="18" charset="0"/>
            </a:endParaRPr>
          </a:p>
          <a:p>
            <a:pPr indent="449263" algn="just" eaLnBrk="1" hangingPunct="1">
              <a:lnSpc>
                <a:spcPct val="150000"/>
              </a:lnSpc>
            </a:pPr>
            <a:endParaRPr lang="ru-RU" altLang="ru-RU" sz="2000" b="1" dirty="0">
              <a:latin typeface="Times New Roman" pitchFamily="18" charset="0"/>
              <a:cs typeface="Times New Roman" pitchFamily="18" charset="0"/>
            </a:endParaRPr>
          </a:p>
          <a:p>
            <a:pPr indent="449263" algn="just" eaLnBrk="1" hangingPunct="1">
              <a:lnSpc>
                <a:spcPct val="150000"/>
              </a:lnSpc>
            </a:pPr>
            <a:endParaRPr lang="ru-RU" altLang="ru-RU" sz="2400" b="1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855467F8-A6E1-011A-5B96-13D6F4547B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0139263"/>
              </p:ext>
            </p:extLst>
          </p:nvPr>
        </p:nvGraphicFramePr>
        <p:xfrm>
          <a:off x="4572000" y="332657"/>
          <a:ext cx="3888433" cy="2208215"/>
        </p:xfrm>
        <a:graphic>
          <a:graphicData uri="http://schemas.openxmlformats.org/drawingml/2006/table">
            <a:tbl>
              <a:tblPr firstRow="1" firstCol="1" bandRow="1"/>
              <a:tblGrid>
                <a:gridCol w="1190336">
                  <a:extLst>
                    <a:ext uri="{9D8B030D-6E8A-4147-A177-3AD203B41FA5}">
                      <a16:colId xmlns:a16="http://schemas.microsoft.com/office/drawing/2014/main" val="3611108169"/>
                    </a:ext>
                  </a:extLst>
                </a:gridCol>
                <a:gridCol w="872914">
                  <a:extLst>
                    <a:ext uri="{9D8B030D-6E8A-4147-A177-3AD203B41FA5}">
                      <a16:colId xmlns:a16="http://schemas.microsoft.com/office/drawing/2014/main" val="593319966"/>
                    </a:ext>
                  </a:extLst>
                </a:gridCol>
                <a:gridCol w="1825183">
                  <a:extLst>
                    <a:ext uri="{9D8B030D-6E8A-4147-A177-3AD203B41FA5}">
                      <a16:colId xmlns:a16="http://schemas.microsoft.com/office/drawing/2014/main" val="3961691636"/>
                    </a:ext>
                  </a:extLst>
                </a:gridCol>
              </a:tblGrid>
              <a:tr h="595683">
                <a:tc>
                  <a:txBody>
                    <a:bodyPr/>
                    <a:lstStyle/>
                    <a:p>
                      <a:pPr algn="just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Тип корреляции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Всего рассчитано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Статистически значимых (p &lt; 0.05)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725213"/>
                  </a:ext>
                </a:extLst>
              </a:tr>
              <a:tr h="440497">
                <a:tc>
                  <a:txBody>
                    <a:bodyPr/>
                    <a:lstStyle/>
                    <a:p>
                      <a:pPr algn="just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Овчарова-Марковская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120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 (4.2%)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06880445"/>
                  </a:ext>
                </a:extLst>
              </a:tr>
              <a:tr h="393931">
                <a:tc>
                  <a:txBody>
                    <a:bodyPr/>
                    <a:lstStyle/>
                    <a:p>
                      <a:pPr algn="just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Марковская-Холланд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360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11 (3.1%)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3272674"/>
                  </a:ext>
                </a:extLst>
              </a:tr>
              <a:tr h="393931">
                <a:tc>
                  <a:txBody>
                    <a:bodyPr/>
                    <a:lstStyle/>
                    <a:p>
                      <a:pPr algn="just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Овчарова-Холланд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 (8.3%)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4662591"/>
                  </a:ext>
                </a:extLst>
              </a:tr>
              <a:tr h="192180">
                <a:tc>
                  <a:txBody>
                    <a:bodyPr/>
                    <a:lstStyle/>
                    <a:p>
                      <a:pPr algn="just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ВСЕГО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492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17 (3.5%)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4875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26965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v.pospelov\Desktop\птт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2744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C:\Users\v.pospelov\Desktop\лого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528427"/>
            <a:ext cx="2380837" cy="679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1"/>
          <p:cNvSpPr>
            <a:spLocks noChangeArrowheads="1"/>
          </p:cNvSpPr>
          <p:nvPr/>
        </p:nvSpPr>
        <p:spPr bwMode="auto">
          <a:xfrm>
            <a:off x="683568" y="260648"/>
            <a:ext cx="7560840" cy="9573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indent="449263" algn="ctr" eaLnBrk="1" hangingPunct="1">
              <a:lnSpc>
                <a:spcPct val="150000"/>
              </a:lnSpc>
            </a:pPr>
            <a:endParaRPr lang="ru-RU" altLang="ru-RU" sz="2400" b="1" dirty="0">
              <a:latin typeface="Times New Roman" pitchFamily="18" charset="0"/>
              <a:cs typeface="Times New Roman" pitchFamily="18" charset="0"/>
            </a:endParaRPr>
          </a:p>
          <a:p>
            <a:pPr indent="449263" algn="ctr" eaLnBrk="1" hangingPunct="1">
              <a:lnSpc>
                <a:spcPct val="150000"/>
              </a:lnSpc>
            </a:pPr>
            <a:r>
              <a:rPr lang="ru-RU" altLang="ru-RU" sz="2000" b="1" dirty="0">
                <a:latin typeface="Times New Roman" pitchFamily="18" charset="0"/>
                <a:cs typeface="Times New Roman" pitchFamily="18" charset="0"/>
              </a:rPr>
              <a:t>Обсуждение результатов:</a:t>
            </a:r>
          </a:p>
          <a:p>
            <a:pPr indent="449263" algn="just" eaLnBrk="1" hangingPunct="1"/>
            <a:r>
              <a:rPr lang="ru-RU" altLang="ru-RU" sz="1400" dirty="0">
                <a:latin typeface="Times New Roman" pitchFamily="18" charset="0"/>
                <a:cs typeface="Times New Roman" pitchFamily="18" charset="0"/>
              </a:rPr>
              <a:t>Родительский контроль связан с направленностью интересов: он положительно соотносится с «Предприимчивым» и отрицательно — с «Артистическим». То есть усиление контроля чаще сопровождается сдвигом к управленческо-организационным траекториям и снижением ориентации на автономное творчество.</a:t>
            </a:r>
          </a:p>
          <a:p>
            <a:pPr indent="449263" algn="just" eaLnBrk="1" hangingPunct="1"/>
            <a:r>
              <a:rPr lang="ru-RU" altLang="ru-RU" sz="1400" dirty="0">
                <a:latin typeface="Times New Roman" pitchFamily="18" charset="0"/>
                <a:cs typeface="Times New Roman" pitchFamily="18" charset="0"/>
              </a:rPr>
              <a:t> Установка «родитель как эталон» по-разному влияет на типы: связь отрицательная с «Предприимчивым» и положительная с «Социальным» — возможна поддержка гуманитарной направленности при меньшей выраженности автономного лидерства.</a:t>
            </a:r>
          </a:p>
          <a:p>
            <a:pPr indent="449263" algn="just" eaLnBrk="1" hangingPunct="1"/>
            <a:r>
              <a:rPr lang="ru-RU" altLang="ru-RU" sz="1400" dirty="0">
                <a:latin typeface="Times New Roman" pitchFamily="18" charset="0"/>
                <a:cs typeface="Times New Roman" pitchFamily="18" charset="0"/>
              </a:rPr>
              <a:t>Бытовая ответственность и семейный уклад (обязанностей больше, чем у сверстников) положительно связаны с «Реалистичным» типом — интерес к прикладным сферам, технике и «осязаемому результату».</a:t>
            </a:r>
          </a:p>
          <a:p>
            <a:pPr indent="449263" algn="just" eaLnBrk="1" hangingPunct="1"/>
            <a:r>
              <a:rPr lang="ru-RU" altLang="ru-RU" sz="1400" dirty="0">
                <a:latin typeface="Times New Roman" pitchFamily="18" charset="0"/>
                <a:cs typeface="Times New Roman" pitchFamily="18" charset="0"/>
              </a:rPr>
              <a:t>Эмоционально благоприятные отношения с родителем связаны с ростом «Артистического» интереса: поддержка и комфорт выступают ресурсом для самовыражения.</a:t>
            </a:r>
          </a:p>
          <a:p>
            <a:pPr indent="449263" algn="just" eaLnBrk="1" hangingPunct="1"/>
            <a:r>
              <a:rPr lang="ru-RU" altLang="ru-RU" sz="1400" dirty="0">
                <a:latin typeface="Times New Roman" pitchFamily="18" charset="0"/>
                <a:cs typeface="Times New Roman" pitchFamily="18" charset="0"/>
              </a:rPr>
              <a:t>Непредсказуемость поведения родителя, а также негативные ожидания относительно будущих достижений положительно связаны с «Реалистичным» типом — вероятна компенсаторная ориентация на более понятные, структурированные и проверяемые сферы.</a:t>
            </a:r>
          </a:p>
          <a:p>
            <a:pPr indent="449263" algn="just" eaLnBrk="1" hangingPunct="1"/>
            <a:r>
              <a:rPr lang="ru-RU" altLang="ru-RU" sz="1400" dirty="0">
                <a:latin typeface="Times New Roman" pitchFamily="18" charset="0"/>
                <a:cs typeface="Times New Roman" pitchFamily="18" charset="0"/>
              </a:rPr>
              <a:t>Для творческой направленности неблагоприятны крайности: и жёсткий контроль, и «полное согласие со всем» — обе установки связаны со снижением «Артистического» типа; важнее сбалансированный стиль (поддержка автономии + разумная структура).</a:t>
            </a:r>
          </a:p>
          <a:p>
            <a:pPr indent="449263" algn="just" eaLnBrk="1" hangingPunct="1"/>
            <a:r>
              <a:rPr lang="ru-RU" altLang="ru-RU" sz="1400" dirty="0">
                <a:latin typeface="Times New Roman" pitchFamily="18" charset="0"/>
                <a:cs typeface="Times New Roman" pitchFamily="18" charset="0"/>
              </a:rPr>
              <a:t>Связи мотивов выбора профессии с типами </a:t>
            </a:r>
            <a:r>
              <a:rPr lang="ru-RU" altLang="ru-RU" sz="1400" dirty="0" err="1">
                <a:latin typeface="Times New Roman" pitchFamily="18" charset="0"/>
                <a:cs typeface="Times New Roman" pitchFamily="18" charset="0"/>
              </a:rPr>
              <a:t>Голланда</a:t>
            </a:r>
            <a:r>
              <a:rPr lang="ru-RU" altLang="ru-RU" sz="1400" dirty="0">
                <a:latin typeface="Times New Roman" pitchFamily="18" charset="0"/>
                <a:cs typeface="Times New Roman" pitchFamily="18" charset="0"/>
              </a:rPr>
              <a:t> есть, но слабее, чем связи родительских установок: обнаружена слабая связь мотива переносимости профессиональных умений с типом «Предприимчивый».</a:t>
            </a:r>
          </a:p>
          <a:p>
            <a:pPr indent="449263" algn="just" eaLnBrk="1" hangingPunct="1">
              <a:lnSpc>
                <a:spcPct val="150000"/>
              </a:lnSpc>
            </a:pPr>
            <a:endParaRPr lang="ru-RU" altLang="ru-RU" sz="1400" b="1" dirty="0">
              <a:latin typeface="Times New Roman" pitchFamily="18" charset="0"/>
              <a:cs typeface="Times New Roman" pitchFamily="18" charset="0"/>
            </a:endParaRPr>
          </a:p>
          <a:p>
            <a:pPr indent="449263" algn="just" eaLnBrk="1" hangingPunct="1">
              <a:lnSpc>
                <a:spcPct val="150000"/>
              </a:lnSpc>
            </a:pPr>
            <a:endParaRPr lang="ru-RU" altLang="ru-RU" sz="2000" b="1" dirty="0">
              <a:latin typeface="Times New Roman" pitchFamily="18" charset="0"/>
              <a:cs typeface="Times New Roman" pitchFamily="18" charset="0"/>
            </a:endParaRPr>
          </a:p>
          <a:p>
            <a:pPr indent="449263" algn="just" eaLnBrk="1" hangingPunct="1">
              <a:lnSpc>
                <a:spcPct val="150000"/>
              </a:lnSpc>
            </a:pPr>
            <a:endParaRPr lang="ru-RU" altLang="ru-RU" sz="2000" b="1" dirty="0">
              <a:latin typeface="Times New Roman" pitchFamily="18" charset="0"/>
              <a:cs typeface="Times New Roman" pitchFamily="18" charset="0"/>
            </a:endParaRPr>
          </a:p>
          <a:p>
            <a:pPr indent="449263" algn="just" eaLnBrk="1" hangingPunct="1">
              <a:lnSpc>
                <a:spcPct val="150000"/>
              </a:lnSpc>
            </a:pPr>
            <a:endParaRPr lang="ru-RU" altLang="ru-RU" sz="2000" b="1" dirty="0">
              <a:latin typeface="Times New Roman" pitchFamily="18" charset="0"/>
              <a:cs typeface="Times New Roman" pitchFamily="18" charset="0"/>
            </a:endParaRPr>
          </a:p>
          <a:p>
            <a:pPr indent="449263" algn="just" eaLnBrk="1" hangingPunct="1">
              <a:lnSpc>
                <a:spcPct val="150000"/>
              </a:lnSpc>
            </a:pPr>
            <a:endParaRPr lang="ru-RU" altLang="ru-RU" sz="2000" b="1" dirty="0">
              <a:latin typeface="Times New Roman" pitchFamily="18" charset="0"/>
              <a:cs typeface="Times New Roman" pitchFamily="18" charset="0"/>
            </a:endParaRPr>
          </a:p>
          <a:p>
            <a:pPr indent="449263" algn="just" eaLnBrk="1" hangingPunct="1">
              <a:lnSpc>
                <a:spcPct val="150000"/>
              </a:lnSpc>
            </a:pPr>
            <a:endParaRPr lang="ru-RU" altLang="ru-RU" sz="2000" b="1" dirty="0">
              <a:latin typeface="Times New Roman" pitchFamily="18" charset="0"/>
              <a:cs typeface="Times New Roman" pitchFamily="18" charset="0"/>
            </a:endParaRPr>
          </a:p>
          <a:p>
            <a:pPr indent="449263" algn="just" eaLnBrk="1" hangingPunct="1">
              <a:lnSpc>
                <a:spcPct val="150000"/>
              </a:lnSpc>
            </a:pPr>
            <a:endParaRPr lang="ru-RU" altLang="ru-RU" sz="2000" b="1" dirty="0">
              <a:latin typeface="Times New Roman" pitchFamily="18" charset="0"/>
              <a:cs typeface="Times New Roman" pitchFamily="18" charset="0"/>
            </a:endParaRPr>
          </a:p>
          <a:p>
            <a:pPr indent="449263" algn="just" eaLnBrk="1" hangingPunct="1">
              <a:lnSpc>
                <a:spcPct val="150000"/>
              </a:lnSpc>
            </a:pPr>
            <a:endParaRPr lang="ru-RU" altLang="ru-RU" sz="2400" b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13358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v.pospelov\Desktop\птт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53" y="0"/>
            <a:ext cx="912744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C:\Users\v.pospelov\Desktop\лого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528427"/>
            <a:ext cx="2380837" cy="679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1"/>
          <p:cNvSpPr>
            <a:spLocks noChangeArrowheads="1"/>
          </p:cNvSpPr>
          <p:nvPr/>
        </p:nvSpPr>
        <p:spPr bwMode="auto">
          <a:xfrm>
            <a:off x="614588" y="533413"/>
            <a:ext cx="7914823" cy="5146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indent="449263" algn="just" eaLnBrk="1" hangingPunct="1">
              <a:lnSpc>
                <a:spcPct val="150000"/>
              </a:lnSpc>
            </a:pPr>
            <a:r>
              <a:rPr lang="ru-RU" altLang="ru-RU" sz="2400" b="1" dirty="0">
                <a:latin typeface="Times New Roman" pitchFamily="18" charset="0"/>
                <a:cs typeface="Times New Roman" pitchFamily="18" charset="0"/>
              </a:rPr>
              <a:t>                                         Выводы:</a:t>
            </a:r>
          </a:p>
          <a:p>
            <a:pPr marL="342900" indent="-342900" algn="just" eaLnBrk="1" hangingPunct="1">
              <a:buAutoNum type="arabicPeriod"/>
            </a:pPr>
            <a:endParaRPr lang="ru-RU" altLang="ru-RU" dirty="0">
              <a:latin typeface="Times New Roman" pitchFamily="18" charset="0"/>
              <a:cs typeface="Times New Roman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Общая гипотеза о значимой связи установок в детско-родительских отношениях и параметров профессионального выбора подростков подтверждена.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Наиболее чувствительными к родительским установкам оказываются интересы, связанные с лидерством, творчеством и практической деятельностью.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Негативная оценка способностей подростка родителем связана со снижением ориентации на профессии, предполагающие профессиональный рост и развитие.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Усиление родительского контроля связано с ростом интереса к управленческим траекториям и снижением интереса к творческим, при этом крайности контроля неблагоприятны для творчества.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Попустительский стиль воспитания связан со снижением стремления подростка использовать профессиональные умения вне работы.</a:t>
            </a:r>
          </a:p>
          <a:p>
            <a:pPr indent="449263" algn="just" eaLnBrk="1" hangingPunct="1">
              <a:lnSpc>
                <a:spcPct val="150000"/>
              </a:lnSpc>
            </a:pPr>
            <a:endParaRPr lang="ru-RU" altLang="ru-RU" sz="1700" b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47359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v.pospelov\Desktop\птт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53" y="0"/>
            <a:ext cx="912744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C:\Users\v.pospelov\Desktop\лого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528427"/>
            <a:ext cx="2380837" cy="679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1"/>
          <p:cNvSpPr>
            <a:spLocks noChangeArrowheads="1"/>
          </p:cNvSpPr>
          <p:nvPr/>
        </p:nvSpPr>
        <p:spPr bwMode="auto">
          <a:xfrm>
            <a:off x="614588" y="620688"/>
            <a:ext cx="7914823" cy="5423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indent="449263" algn="just" eaLnBrk="1" hangingPunct="1">
              <a:lnSpc>
                <a:spcPct val="150000"/>
              </a:lnSpc>
            </a:pPr>
            <a:r>
              <a:rPr lang="ru-RU" altLang="ru-RU" sz="2400" b="1" dirty="0">
                <a:latin typeface="Times New Roman" pitchFamily="18" charset="0"/>
                <a:cs typeface="Times New Roman" pitchFamily="18" charset="0"/>
              </a:rPr>
              <a:t>                                         Выводы:</a:t>
            </a:r>
          </a:p>
          <a:p>
            <a:pPr algn="l"/>
            <a:endParaRPr lang="ru-RU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algn="l"/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6. Эмоциональное принятие и благоприятные отношения с родителями способствуют более целостному отношению к профессиональной сфере и усилению творческой направленности.</a:t>
            </a:r>
          </a:p>
          <a:p>
            <a:pPr algn="l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Родитель как пример может усиливать социально ориентированные профессиональные устремления, но снижать ориентацию на лидерство и автономные решения.</a:t>
            </a:r>
          </a:p>
          <a:p>
            <a:pPr algn="l"/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8. Семейный уклад, опыт обязанностей и предсказуемость взаимодействия связаны с выбором практико-ориентированных, понятных профессиональных сфер.</a:t>
            </a:r>
          </a:p>
          <a:p>
            <a:pPr algn="l"/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9. Расхождение представлений о будущем между родителями и подростком связано с большей ориентацией на профессиональный рост и меньшей интеграцией профессиональных умений в другие сферы жизни.</a:t>
            </a:r>
          </a:p>
          <a:p>
            <a:pPr algn="l"/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10. Профессиональное самоопределение подростков определяется совокупностью факторов, при этом установки родителей играют значимую роль и требуют включения семьи в профориентационную работу.</a:t>
            </a:r>
          </a:p>
          <a:p>
            <a:pPr indent="449263" algn="just" eaLnBrk="1" hangingPunct="1">
              <a:lnSpc>
                <a:spcPct val="150000"/>
              </a:lnSpc>
            </a:pPr>
            <a:endParaRPr lang="ru-RU" altLang="ru-RU" sz="1700" b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57449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v.pospelov\Desktop\птт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2744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C:\Users\v.pospelov\Desktop\лого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528427"/>
            <a:ext cx="2380837" cy="679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1"/>
          <p:cNvSpPr>
            <a:spLocks noChangeArrowheads="1"/>
          </p:cNvSpPr>
          <p:nvPr/>
        </p:nvSpPr>
        <p:spPr bwMode="auto">
          <a:xfrm>
            <a:off x="1187624" y="1340769"/>
            <a:ext cx="6911926" cy="2653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indent="449263" algn="just" eaLnBrk="1" hangingPunct="1">
              <a:lnSpc>
                <a:spcPct val="150000"/>
              </a:lnSpc>
            </a:pPr>
            <a:r>
              <a:rPr lang="ru-RU" altLang="ru-RU" sz="2400" b="1" dirty="0">
                <a:latin typeface="Times New Roman" pitchFamily="18" charset="0"/>
                <a:cs typeface="Times New Roman" pitchFamily="18" charset="0"/>
              </a:rPr>
              <a:t>Заключение:</a:t>
            </a:r>
          </a:p>
          <a:p>
            <a:pPr algn="just">
              <a:lnSpc>
                <a:spcPct val="150000"/>
              </a:lnSpc>
            </a:pPr>
            <a:r>
              <a:rPr lang="ru-RU" altLang="ru-RU" b="1" dirty="0">
                <a:latin typeface="Times New Roman" pitchFamily="18" charset="0"/>
                <a:cs typeface="Times New Roman" pitchFamily="18" charset="0"/>
              </a:rPr>
              <a:t>Гипотеза подтверждена</a:t>
            </a:r>
            <a:r>
              <a:rPr lang="ru-RU" altLang="ru-RU" dirty="0">
                <a:latin typeface="Times New Roman" pitchFamily="18" charset="0"/>
                <a:cs typeface="Times New Roman" pitchFamily="18" charset="0"/>
              </a:rPr>
              <a:t>: выявлены значимые корреляции между параметрами детско-родительских отношений и мотивами выбора профессии (p &lt; 0.05), что подтверждает роль семейного фактора, но показывает сложный и опосредованный характер влияния. </a:t>
            </a:r>
            <a:endParaRPr lang="ru-RU" altLang="ru-RU" sz="1400" dirty="0">
              <a:latin typeface="Times New Roman" pitchFamily="18" charset="0"/>
              <a:cs typeface="Times New Roman" pitchFamily="18" charset="0"/>
            </a:endParaRPr>
          </a:p>
          <a:p>
            <a:pPr indent="449263" algn="just" eaLnBrk="1" hangingPunct="1">
              <a:lnSpc>
                <a:spcPct val="150000"/>
              </a:lnSpc>
            </a:pPr>
            <a:endParaRPr lang="ru-RU" altLang="ru-RU" sz="1700" b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93168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v.pospelov\Desktop\птт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2744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C:\Users\v.pospelov\Desktop\лого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528427"/>
            <a:ext cx="2380837" cy="679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Объект 2"/>
          <p:cNvSpPr>
            <a:spLocks noGrp="1"/>
          </p:cNvSpPr>
          <p:nvPr>
            <p:ph idx="1"/>
          </p:nvPr>
        </p:nvSpPr>
        <p:spPr>
          <a:xfrm>
            <a:off x="539552" y="476672"/>
            <a:ext cx="7620000" cy="5622925"/>
          </a:xfrm>
        </p:spPr>
        <p:txBody>
          <a:bodyPr/>
          <a:lstStyle/>
          <a:p>
            <a:pPr marL="0" indent="0">
              <a:buFont typeface="Arial" charset="0"/>
              <a:buNone/>
            </a:pPr>
            <a:endParaRPr lang="ru-RU" altLang="ru-RU" dirty="0"/>
          </a:p>
          <a:p>
            <a:pPr marL="0" indent="0">
              <a:buFont typeface="Arial" charset="0"/>
              <a:buNone/>
            </a:pPr>
            <a:endParaRPr lang="ru-RU" altLang="ru-RU" dirty="0"/>
          </a:p>
          <a:p>
            <a:pPr marL="0" indent="0">
              <a:buFont typeface="Arial" charset="0"/>
              <a:buNone/>
            </a:pPr>
            <a:endParaRPr lang="ru-RU" altLang="ru-RU" dirty="0"/>
          </a:p>
          <a:p>
            <a:pPr marL="0" indent="0">
              <a:buFont typeface="Arial" charset="0"/>
              <a:buNone/>
            </a:pPr>
            <a:endParaRPr lang="ru-RU" altLang="ru-RU" dirty="0"/>
          </a:p>
          <a:p>
            <a:pPr marL="0" indent="0" algn="ctr">
              <a:buFont typeface="Arial" charset="0"/>
              <a:buNone/>
            </a:pPr>
            <a:r>
              <a:rPr lang="ru-RU" altLang="ru-RU" sz="3200" dirty="0">
                <a:latin typeface="Times New Roman" pitchFamily="18" charset="0"/>
                <a:cs typeface="Times New Roman" pitchFamily="18" charset="0"/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59546529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Стандартная">
    <a:majorFont>
      <a:latin typeface="Calibri Light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游明朝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Стандартная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1070</TotalTime>
  <Words>1412</Words>
  <Application>Microsoft Office PowerPoint</Application>
  <PresentationFormat>Экран (4:3)</PresentationFormat>
  <Paragraphs>169</Paragraphs>
  <Slides>17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1" baseType="lpstr">
      <vt:lpstr>Arial</vt:lpstr>
      <vt:lpstr>Calibri</vt:lpstr>
      <vt:lpstr>Times New Roman</vt:lpstr>
      <vt:lpstr>Тема Office</vt:lpstr>
      <vt:lpstr>Выполнила: студентка группы ПС5А21/09 ПКЧ Ворошилова Анна  Научный руководитель: старший преподаватель  НОЧУ ВО «Московский институт психоанализа»  Манина Ирина Ивановна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Поспелов Валентин Васильевич</dc:creator>
  <cp:lastModifiedBy>Никита Титов</cp:lastModifiedBy>
  <cp:revision>65</cp:revision>
  <dcterms:created xsi:type="dcterms:W3CDTF">2019-04-30T06:18:48Z</dcterms:created>
  <dcterms:modified xsi:type="dcterms:W3CDTF">2026-02-20T05:53:07Z</dcterms:modified>
</cp:coreProperties>
</file>